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   SMART INDIA HACKATHON 2026</a:t>
            </a:r>
          </a:p>
          <a:p>
            <a:pPr>
              <a:defRPr sz="1200">
                <a:solidFill>
                  <a:srgbClr val="E2E8F0"/>
                </a:solidFill>
                <a:latin typeface="Arial"/>
              </a:defRPr>
            </a:pPr>
            <a:r>
              <a:t>     National Innovation &amp; Digital Governance Initiative • Idea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Problem Statement ID: </a:t>
            </a:r>
            <a:r>
              <a:rPr b="0" sz="1300">
                <a:solidFill>
                  <a:srgbClr val="1E293B"/>
                </a:solidFill>
                <a:latin typeface="Arial"/>
              </a:rPr>
              <a:t>SIH26-GOV-LAND-042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Problem Statement Title: </a:t>
            </a:r>
            <a:r>
              <a:rPr b="0" sz="1300">
                <a:solidFill>
                  <a:srgbClr val="1E293B"/>
                </a:solidFill>
                <a:latin typeface="Arial"/>
              </a:rPr>
              <a:t>AI-Driven Digitization, Cadastral Extraction &amp; Multi-Layer Validation of Historical Land Records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Theme: </a:t>
            </a:r>
            <a:r>
              <a:rPr b="0" sz="1300">
                <a:solidFill>
                  <a:srgbClr val="1E293B"/>
                </a:solidFill>
                <a:latin typeface="Arial"/>
              </a:rPr>
              <a:t>Smart Governance / Digital Public Infrastructure (DPI)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PS Category: </a:t>
            </a:r>
            <a:r>
              <a:rPr b="0" sz="1300">
                <a:solidFill>
                  <a:srgbClr val="1E293B"/>
                </a:solidFill>
                <a:latin typeface="Arial"/>
              </a:rPr>
              <a:t>Software / Enterprise Digital Governance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Team ID: </a:t>
            </a:r>
            <a:r>
              <a:rPr b="0" sz="1300">
                <a:solidFill>
                  <a:srgbClr val="1E293B"/>
                </a:solidFill>
                <a:latin typeface="Arial"/>
              </a:rPr>
              <a:t>TEAM-ILRDVS-2026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Team Name: </a:t>
            </a:r>
            <a:r>
              <a:rPr b="0" sz="1300">
                <a:solidFill>
                  <a:srgbClr val="1E293B"/>
                </a:solidFill>
                <a:latin typeface="Arial"/>
              </a:rPr>
              <a:t>GeoTrust Innovators (ILRDVS)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63040"/>
            <a:ext cx="42976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defRPr b="1" sz="2600">
                <a:solidFill>
                  <a:srgbClr val="D97706"/>
                </a:solidFill>
                <a:latin typeface="Trebuchet MS"/>
              </a:defRPr>
            </a:pPr>
            <a:r>
              <a:t>PROJECT ILRDVS</a:t>
            </a:r>
          </a:p>
          <a:p>
            <a:pPr algn="ctr">
              <a:spcAft>
                <a:spcPts val="18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Intelligent Land Record Digitization &amp; Validation System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🏛️ DILRMP 3.0 Standard • 14-Digit Bhu-Aadhaar (ULPIN)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✓  Multi-Pass Self-Correcting OCR (CLAHE + Rotation)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✓  Specialized Cadastral Named Entity Recognition (NER)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✓  Dual-Factor Physical Sticker PIN &amp; 2D QR Verification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✓  Statutory Dual-Signature HITL Workstation (DSC-OFF)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✓  Unified 8-Layer Land Stack (GIS + RoR + Courts + Banks)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1 of 7 | SIH Idea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PROBLEM STATEMENT &amp;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INNOVATION &amp;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b="1" sz="1500">
                <a:solidFill>
                  <a:srgbClr val="B91C1C"/>
                </a:solidFill>
                <a:latin typeface="Trebuchet MS"/>
              </a:defRPr>
            </a:pPr>
            <a:r>
              <a:t>⚠️ THE LAND-RECORD CRISIS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• Archival Degradation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Millions of 50+ year-old paper records (7/12 Satbara, Ferfar, Sale Deeds) suffer from faded Devanagari script, bleeding blue ink, and physical decay.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• Institutional Silos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Revenue offices, Sub-Registrars (SRO), Land Surveyors, Banks, and Courts operate independently—creating duplicate title claims and lending fraud.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• Physical-Digital Verification Gap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Digital portals cannot stop fraudsters from presenting forged paper photocopies to local tehsils and banks.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• Manual Backlogs &amp; Bribery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Citizens face delays of 30-90 days for basic mutation (Ferfar) and ownership title clearances.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931920" cy="51206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b="1" sz="1500">
                <a:solidFill>
                  <a:srgbClr val="1E3A8A"/>
                </a:solidFill>
                <a:latin typeface="Trebuchet MS"/>
              </a:defRPr>
            </a:pPr>
            <a:r>
              <a:t>💡 OUR UNIFIED SOLUTION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▶ 1. Multi-Pass Adaptive OCR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OpenCV CLAHE contrast boosting + EasyOCR recovers faint stamps and folded paper.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▶ 2. Cadastral Entity NER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Custom multilingual NER extracts Owner Name, Survey/Gat #, Area (Ha/Acre), Village, and Khata.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▶ 3. Human-in-the-Loop Workstation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Dual-pane review with confidence gauges and Verifier/Officer digital signatures (DSC-OFF).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▶ 4. The 8-Layer Land Stack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Unifies GIS vector parcels, RoR ownership, bank mortgages (CERSAI), and court dispute stays under 14-digit ULPIN.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▶ 5. Dual-Factor QR Authentication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Physical adhesive sticker PIN (SEC-XXXX-YYYY) cryptographically linked to cloud scan SHA-256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97280"/>
            <a:ext cx="3291840" cy="5120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b="1" sz="1500">
                <a:solidFill>
                  <a:srgbClr val="047857"/>
                </a:solidFill>
                <a:latin typeface="Trebuchet MS"/>
              </a:defRPr>
            </a:pPr>
            <a:r>
              <a:t>⭐ KEY NOVELTY &amp; EDGE</a:t>
            </a:r>
          </a:p>
          <a:p>
            <a:pPr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★ DILRMP 3.0 Operational Alignment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First system mapping 8 distinct governmental layers to the 14-digit Bhu-Aadhaar (ULPIN).</a:t>
            </a:r>
          </a:p>
          <a:p>
            <a:pPr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★ Active Self-Correcting Feedback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Continuous learning loop: corrections made in workstation dynamically train synonym dictionaries in real-time.</a:t>
            </a:r>
          </a:p>
          <a:p>
            <a:pPr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★ Tamper-Proof Physical Seal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Solves the 'offline fake paper' loophole via physical secret security PINs.</a:t>
            </a:r>
          </a:p>
          <a:p>
            <a:pPr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★ Real DLT SMS &amp; HMAC Email OTP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Zero-plaintext cryptographic authentication with explicit legal distinction (Phone ≠ Title).</a:t>
            </a:r>
          </a:p>
          <a:p>
            <a:pPr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★ Vernacular &amp; GIGW Accessible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Full Marathi/Hindi support + WCAG 2.1 screen-reader mode for rural inclusivity.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2 of 7 | SIH Idea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TECHNICAL APPROACH: 7-LAYER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GOVERNANCE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7552"/>
            <a:ext cx="11277295" cy="53218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3 of 8 | SIH Idea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TECHNICAL APPROACH: END-TO-END PROCESS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DECISION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2_process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7552"/>
            <a:ext cx="11277295" cy="53218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4 of 8 | SIH Idea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FEASIBILITY, VIABILITY &amp; RISK MITIGATION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OPERATIONAL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4114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0F172A"/>
                </a:solidFill>
                <a:latin typeface="Trebuchet MS"/>
              </a:defRPr>
            </a:pPr>
            <a:r>
              <a:t>⚙️ TECHNICAL &amp; ECONOMIC FEASIBILITY</a:t>
            </a:r>
          </a:p>
          <a:p>
            <a:pPr>
              <a:defRPr b="1" sz="1050">
                <a:solidFill>
                  <a:srgbClr val="1E3A8A"/>
                </a:solidFill>
                <a:latin typeface="Trebuchet MS"/>
              </a:defRPr>
            </a:pPr>
            <a:r>
              <a:t>• Zero High-End GPU Barrier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Preprocessing and OCR pipeline is optimized for multi-core CPUs with OpenCV and lightweight quantized OCR, ensuring straightforward deployment on existing State Data Centre (SDC) servers without massive cloud expenses.</a:t>
            </a:r>
          </a:p>
          <a:p>
            <a:pPr>
              <a:defRPr b="1" sz="1050">
                <a:solidFill>
                  <a:srgbClr val="1E3A8A"/>
                </a:solidFill>
                <a:latin typeface="Trebuchet MS"/>
              </a:defRPr>
            </a:pPr>
            <a:r>
              <a:t>• Incremental Modular Adoption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Designed as an API-first microservice. Can integrate into existing state portals (e.g., Mahabhulekh, Bhulekh, Jamabandi) without replacing current infrastructure.</a:t>
            </a:r>
          </a:p>
          <a:p>
            <a:pPr>
              <a:defRPr b="1" sz="1050">
                <a:solidFill>
                  <a:srgbClr val="1E3A8A"/>
                </a:solidFill>
                <a:latin typeface="Trebuchet MS"/>
              </a:defRPr>
            </a:pPr>
            <a:r>
              <a:t>• Economic Cost Savings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Automates 70% of manual transcription effort, saving crores of rupees in third-party data entry contracts and reducing mutation cycle time from weeks to hours.</a:t>
            </a:r>
          </a:p>
          <a:p>
            <a:pPr>
              <a:defRPr b="1" sz="1050">
                <a:solidFill>
                  <a:srgbClr val="1E3A8A"/>
                </a:solidFill>
                <a:latin typeface="Trebuchet MS"/>
              </a:defRPr>
            </a:pPr>
            <a:r>
              <a:t>• Statutory Legal Viability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Fully compliant with the Indian Information Technology Act (2000) and Revenue Department regulations through dual digital signatures (DSC-VER &amp; DSC-OFF).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676656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D97706"/>
                </a:solidFill>
                <a:latin typeface="Trebuchet MS"/>
              </a:defRPr>
            </a:pPr>
            <a:r>
              <a:t>🛡️ RISK ASSESSMENT &amp; ENGINEERING MITIGATION MATRIX</a:t>
            </a:r>
          </a:p>
          <a:p>
            <a:pPr>
              <a:defRPr b="1" sz="1000">
                <a:solidFill>
                  <a:srgbClr val="B91C1C"/>
                </a:solidFill>
                <a:latin typeface="Trebuchet MS"/>
              </a:defRPr>
            </a:pPr>
            <a:r>
              <a:t>⚠️ Risk: Severely Faded Inks &amp; Historical Stamps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✅ Mitigation: Adaptive multi-pass pipeline automatically activates CLAHE 3.5 contrast boosting, unsharp masking, and morphological dilation upon detecting low character yield.</a:t>
            </a:r>
          </a:p>
          <a:p>
            <a:pPr>
              <a:defRPr b="1" sz="1000">
                <a:solidFill>
                  <a:srgbClr val="B91C1C"/>
                </a:solidFill>
                <a:latin typeface="Trebuchet MS"/>
              </a:defRPr>
            </a:pPr>
            <a:r>
              <a:t>⚠️ Risk: AI Hallucinations on Legal Titles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✅ Mitigation: Human-in-the-Loop Workstation: AI provides confidence scores and highlight overlays; only authorized Revenue Officers can grant statutory approval via DSC-OFF digital signature.</a:t>
            </a:r>
          </a:p>
          <a:p>
            <a:pPr>
              <a:defRPr b="1" sz="1000">
                <a:solidFill>
                  <a:srgbClr val="B91C1C"/>
                </a:solidFill>
                <a:latin typeface="Trebuchet MS"/>
              </a:defRPr>
            </a:pPr>
            <a:r>
              <a:t>⚠️ Risk: Paper Deed Forgery &amp; Fake Photocopies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✅ Mitigation: Dual-Factor Physical-to-Digital Verification: Physical 80mm sticker QR + secret security PIN (SEC-XXXX-YYYY) cryptographically linked to cloud scan SHA-256 hash.</a:t>
            </a:r>
          </a:p>
          <a:p>
            <a:pPr>
              <a:defRPr b="1" sz="1000">
                <a:solidFill>
                  <a:srgbClr val="B91C1C"/>
                </a:solidFill>
                <a:latin typeface="Trebuchet MS"/>
              </a:defRPr>
            </a:pPr>
            <a:r>
              <a:t>⚠️ Risk: Citizen Identity Spoofing / Account Takeover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✅ Mitigation: Salted HMAC-SHA256 OTP verification with zero plaintext database storage, automatic 5-min TTL pruning, and TRAI DLT-compliant SMS templates.</a:t>
            </a:r>
          </a:p>
          <a:p>
            <a:pPr>
              <a:defRPr b="1" sz="1000">
                <a:solidFill>
                  <a:srgbClr val="B91C1C"/>
                </a:solidFill>
                <a:latin typeface="Trebuchet MS"/>
              </a:defRPr>
            </a:pPr>
            <a:r>
              <a:t>⚠️ Risk: Dialectal &amp; Orthographic Variations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✅ Mitigation: Multilingual cadastral lexicon mapping regional terminology (Gat, Khasra, Khata, Bhogwatdar, Ferfar) with continuous feedback learning from verifier corrections.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5 of 8 | SIH Idea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IMPACT AND MEASURABLE GOVERNANCE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NATIONAL RELEVANCE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E3A8A"/>
                </a:solidFill>
                <a:latin typeface="Trebuchet MS"/>
              </a:defRPr>
            </a:pPr>
            <a:r>
              <a:t>“Transforming Millions of Vulnerable Paper Deeds into an Indisputable, Transparent Economic Asset”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🏛️ GOVERNANCE &amp; LEGAL IMPACT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Land Litigation Reduction: </a:t>
            </a:r>
            <a:r>
              <a:rPr b="0" sz="800">
                <a:solidFill>
                  <a:srgbClr val="475569"/>
                </a:solidFill>
              </a:rPr>
              <a:t>Addresses the root cause of land disputes which currently constitute ~66% of all civil cases in Indian courts.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Instant Court Stay Enforcement: </a:t>
            </a:r>
            <a:r>
              <a:rPr b="0" sz="800">
                <a:solidFill>
                  <a:srgbClr val="475569"/>
                </a:solidFill>
              </a:rPr>
              <a:t>Layer 7 NJDG/RCCMS sync automatically flags disputed parcels, freezing illicit sales during pending litigation.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Immutable Audit Trail: </a:t>
            </a:r>
            <a:r>
              <a:rPr b="0" sz="800">
                <a:solidFill>
                  <a:srgbClr val="475569"/>
                </a:solidFill>
              </a:rPr>
              <a:t>RTI-compliant audit logs track every document view, edit, zoom, remark, and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b="1" sz="1100">
                <a:solidFill>
                  <a:srgbClr val="047857"/>
                </a:solidFill>
                <a:latin typeface="Trebuchet MS"/>
              </a:defRPr>
            </a:pPr>
            <a:r>
              <a:t>💰 ECONOMIC &amp; LENDING VELOCITY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Eliminates Double-Financing: </a:t>
            </a:r>
            <a:r>
              <a:rPr b="0" sz="800">
                <a:solidFill>
                  <a:srgbClr val="475569"/>
                </a:solidFill>
              </a:rPr>
              <a:t>Layer 6 CERSAI/ULI integration locks parcels in real-time when mortgaged, preventing fraudulent multi-bank loans.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Instant Kisan Credit Card (KCC): </a:t>
            </a:r>
            <a:r>
              <a:rPr b="0" sz="800">
                <a:solidFill>
                  <a:srgbClr val="475569"/>
                </a:solidFill>
              </a:rPr>
              <a:t>Farmers obtain verified land title certificates in minutes instead of paying middlemen for physical extracts.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Automated Circle Rate Valuation: </a:t>
            </a:r>
            <a:r>
              <a:rPr b="0" sz="800">
                <a:solidFill>
                  <a:srgbClr val="475569"/>
                </a:solidFill>
              </a:rPr>
              <a:t>Layer 5 algorithmically prevents stamp duty evasion and manual undervaluation.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b="1" sz="1100">
                <a:solidFill>
                  <a:srgbClr val="D97706"/>
                </a:solidFill>
                <a:latin typeface="Trebuchet MS"/>
              </a:defRPr>
            </a:pPr>
            <a:r>
              <a:t>👥 CITIZEN EMPOWERMENT &amp; EQUITY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Transparent Citizen Self-Service: </a:t>
            </a:r>
            <a:r>
              <a:rPr b="0" sz="800">
                <a:solidFill>
                  <a:srgbClr val="475569"/>
                </a:solidFill>
              </a:rPr>
              <a:t>Dedicated /citizen portal allows tracking mutation applications and downloading certified extracts without red tape.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Instant Fraud SMS Alerts: </a:t>
            </a:r>
            <a:r>
              <a:rPr b="0" sz="800">
                <a:solidFill>
                  <a:srgbClr val="475569"/>
                </a:solidFill>
              </a:rPr>
              <a:t>Masked Aadhaar (XXXX-XXXX-9124) linkage automatically dispatches alerts when transactions are initiated on personal land.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Eradication of Broker Exploitation: </a:t>
            </a:r>
            <a:r>
              <a:rPr b="0" sz="800">
                <a:solidFill>
                  <a:srgbClr val="475569"/>
                </a:solidFill>
              </a:rPr>
              <a:t>Direct digital verification removes dependency on predatory local document writers.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b="1" sz="1100">
                <a:solidFill>
                  <a:srgbClr val="0284C7"/>
                </a:solidFill>
                <a:latin typeface="Trebuchet MS"/>
              </a:defRPr>
            </a:pPr>
            <a:r>
              <a:t>♿ ACCESSIBILITY &amp; VERNACULAR REACH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GIGW &amp; WCAG 2.1 Compliant: </a:t>
            </a:r>
            <a:r>
              <a:rPr b="0" sz="800">
                <a:solidFill>
                  <a:srgbClr val="475569"/>
                </a:solidFill>
              </a:rPr>
              <a:t>Dedicated /screen-reader mode with high-contrast UI and keyboard accessibility for visually impaired citizens.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Native Vernacular Interface: </a:t>
            </a:r>
            <a:r>
              <a:rPr b="0" sz="800">
                <a:solidFill>
                  <a:srgbClr val="475569"/>
                </a:solidFill>
              </a:rPr>
              <a:t>Full localized support for Marathi (Devanagari) and Hindi ensuring rural common service centre (CSC) usability.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Offline-Ready QR Verification: </a:t>
            </a:r>
            <a:r>
              <a:rPr b="0" sz="800">
                <a:solidFill>
                  <a:srgbClr val="475569"/>
                </a:solidFill>
              </a:rPr>
              <a:t>Inspectors and banks can verify paper authenticity in rural tehsils using any smartphone camera.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6 of 8 | SIH Idea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WORKING PROTOTYPE &amp; LIVE SYSTEM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PRODUCTION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100">
                <a:solidFill>
                  <a:srgbClr val="1E3A8A"/>
                </a:solidFill>
                <a:latin typeface="Trebuchet MS"/>
              </a:defRPr>
            </a:pPr>
            <a:r>
              <a:t>1. DUAL-PANE HITL WORKSTATION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Side-by-side archival scan viewer + extracted metadata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Field-level confidence scores &amp; anomaly warning flags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Verifier Digital Signature (DSC-VER) forwarding queue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Revenue Officer statutory approval &amp; rejection portal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Audit log viewer tracking every click &amp; edit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100">
                <a:solidFill>
                  <a:srgbClr val="047857"/>
                </a:solidFill>
                <a:latin typeface="Trebuchet MS"/>
              </a:defRPr>
            </a:pPr>
            <a:r>
              <a:t>2. 3-TIER QR VERIFICATION ENGINE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Public portal: /verify-document with live camera scan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Tier 1 (Digital Only): Cloud archive validation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Tier 2 (Dual-Factor Match): Validates physical sticker PIN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Tier 3 (Counterfeit Alert): Detects altered paper deeds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Instant PDF export of certified cadastral extracts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09728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100">
                <a:solidFill>
                  <a:srgbClr val="D97706"/>
                </a:solidFill>
                <a:latin typeface="Trebuchet MS"/>
              </a:defRPr>
            </a:pPr>
            <a:r>
              <a:t>3. 8-LAYER LAND STACK VIEWER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Interactive cadastral parcel visualizer with ULPIN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Real-time RoR (7/12 &amp; 8A) ownership registry lookup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Bank mortgage status check (CERSAI &amp; ULI sync)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Automated Circle Rate Ready Reckoner tax calculator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Revenue court active injunction / stay order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74920"/>
            <a:ext cx="11094415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spcAft>
                <a:spcPts val="400"/>
              </a:spcAft>
              <a:defRPr b="1" sz="1200">
                <a:solidFill>
                  <a:srgbClr val="D97706"/>
                </a:solidFill>
                <a:latin typeface="Trebuchet MS"/>
              </a:defRPr>
            </a:pPr>
            <a:r>
              <a:t>🚀 LIVE DEPLOYMENT &amp; JURY EVALUATION ACCESS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• Web Application: http://localhost:3000 (Next.js 14)  |  Backend API: http://localhost:5000 (Node.js/Express)  |  AI Service: http://localhost:8000</a:t>
            </a:r>
          </a:p>
          <a:p>
            <a:pPr>
              <a:defRPr sz="900">
                <a:solidFill>
                  <a:srgbClr val="93C5FD"/>
                </a:solidFill>
                <a:latin typeface="Arial"/>
              </a:defRPr>
            </a:pPr>
            <a:r>
              <a:t>• Pre-Seeded One-Click Roles (Password: Password123!): Admin (admin@landrecord.gov.in) | Officer (officer1@landrecord.gov.in) | Verifier (verifier1@landrecord.gov.in)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7 of 8 | SIH Idea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RESEARCH, REFERENCES &amp; POLICY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AUTHORITATIVE BACKING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b="1" sz="1050">
                <a:solidFill>
                  <a:srgbClr val="0F172A"/>
                </a:solidFill>
                <a:latin typeface="Trebuchet MS"/>
              </a:defRPr>
            </a:pPr>
            <a:r>
              <a:t>📚 GOVERNMENT POLICY &amp; STANDARDS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DILRMP 3.0 Operational Guidelines (2026–2031): </a:t>
            </a:r>
            <a:r>
              <a:rPr b="0" sz="800">
                <a:solidFill>
                  <a:srgbClr val="475569"/>
                </a:solidFill>
              </a:rPr>
              <a:t>Department of Land Resources (DoLR), Ministry of Rural Development, Government of India.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Bhu-Aadhaar (ULPIN) Technical Standard: </a:t>
            </a:r>
            <a:r>
              <a:rPr b="0" sz="800">
                <a:solidFill>
                  <a:srgbClr val="475569"/>
                </a:solidFill>
              </a:rPr>
              <a:t>Survey of India standard for 14-digit deterministic cadastral parcel identification.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TRAI DLT Commercial SMS Regulations: </a:t>
            </a:r>
            <a:r>
              <a:rPr b="0" sz="800">
                <a:solidFill>
                  <a:srgbClr val="475569"/>
                </a:solidFill>
              </a:rPr>
              <a:t>DLT Principal Entity registration &amp; approved header framework for public notifications.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b="1" sz="1050">
                <a:solidFill>
                  <a:srgbClr val="1E3A8A"/>
                </a:solidFill>
                <a:latin typeface="Trebuchet MS"/>
              </a:defRPr>
            </a:pPr>
            <a:r>
              <a:t>📚 ACADEMIC PAPERS &amp; ALGORITHMS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Adaptive Contrast for Low-Quality Manuscripts: </a:t>
            </a:r>
            <a:r>
              <a:rPr b="0" sz="800">
                <a:solidFill>
                  <a:srgbClr val="475569"/>
                </a:solidFill>
              </a:rPr>
              <a:t>Contrast Limited Adaptive Histogram Equalization (CLAHE) applied to historical document OCR.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Named Entity Recognition in Vernacular Scripts: </a:t>
            </a:r>
            <a:r>
              <a:rPr b="0" sz="800">
                <a:solidFill>
                  <a:srgbClr val="475569"/>
                </a:solidFill>
              </a:rPr>
              <a:t>Hybrid regex and transformer models for multilingual cadastral extraction in Devanagari.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Active Continuous Learning in Document Processing: </a:t>
            </a:r>
            <a:r>
              <a:rPr b="0" sz="800">
                <a:solidFill>
                  <a:srgbClr val="475569"/>
                </a:solidFill>
              </a:rPr>
              <a:t>Human-in-the-loop correction feedback loop for real-time synonym and entity adaptation.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📚 CADASTRAL DATASETS &amp; TAXONOMY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Maharashtra Mahabhulekh Schema: </a:t>
            </a:r>
            <a:r>
              <a:rPr b="0" sz="800">
                <a:solidFill>
                  <a:srgbClr val="475569"/>
                </a:solidFill>
              </a:rPr>
              <a:t>Standardized Form 7/12 (Satbara), Form 8A (Holding ledger), and Form 6 (Ferfar mutation register).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National Land Records Modernization Corpus: </a:t>
            </a:r>
            <a:r>
              <a:rPr b="0" sz="800">
                <a:solidFill>
                  <a:srgbClr val="475569"/>
                </a:solidFill>
              </a:rPr>
              <a:t>Archival deeds spanning Pune, Nashik, Nagpur, Satara, and Thane revenue jurisdictions.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CERSAI &amp; NGDRS Open Standards: </a:t>
            </a:r>
            <a:r>
              <a:rPr b="0" sz="800">
                <a:solidFill>
                  <a:srgbClr val="475569"/>
                </a:solidFill>
              </a:rPr>
              <a:t>Conveyance registry protocols and central mortgage encumbrance data exchange formats.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b="1" sz="1050">
                <a:solidFill>
                  <a:srgbClr val="D97706"/>
                </a:solidFill>
                <a:latin typeface="Trebuchet MS"/>
              </a:defRPr>
            </a:pPr>
            <a:r>
              <a:t>📚 CRYPTOGRAPHIC &amp; TECHNICAL DOCUMENTATION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SHA-256 Document Provenance Standard: </a:t>
            </a:r>
            <a:r>
              <a:rPr b="0" sz="800">
                <a:solidFill>
                  <a:srgbClr val="475569"/>
                </a:solidFill>
              </a:rPr>
              <a:t>NIST FIPS 180-4 secure hashing for original archival document scan immutability.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HMAC-SHA256 Zero-Plaintext Security: </a:t>
            </a:r>
            <a:r>
              <a:rPr b="0" sz="800">
                <a:solidFill>
                  <a:srgbClr val="475569"/>
                </a:solidFill>
              </a:rPr>
              <a:t>RFC 2104 cryptographic authentication for one-time verification tokens.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GIGW 3.0 &amp; WCAG 2.1 AA Accessibility: </a:t>
            </a:r>
            <a:r>
              <a:rPr b="0" sz="800">
                <a:solidFill>
                  <a:srgbClr val="475569"/>
                </a:solidFill>
              </a:rPr>
              <a:t>Ministry of Electronics and Information Technology (MeitY) guidelines for accessible portals.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8 of 8 | SIH Idea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