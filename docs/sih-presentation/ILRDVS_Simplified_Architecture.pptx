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ILRDVS — SIMPLIFIED SYSTEM ARCHITECTURE</a:t>
            </a:r>
          </a:p>
          <a:p>
            <a:pPr>
              <a:defRPr sz="1000">
                <a:solidFill>
                  <a:srgbClr val="93C5FD"/>
                </a:solidFill>
                <a:latin typeface="Arial"/>
              </a:defRPr>
            </a:pPr>
            <a:r>
              <a:t>5-Tier High-Level Pipeline: Citizen Ingestion ➔ AI Extraction ➔ Officer Sanction ➔ Secure QR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28600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SMART INDIA HACKATHON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78992"/>
            <a:ext cx="11094415" cy="80467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2240280" cy="8046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100">
                <a:solidFill>
                  <a:srgbClr val="FFFFFF"/>
                </a:solidFill>
                <a:latin typeface="Trebuchet MS"/>
              </a:defRPr>
            </a:pPr>
            <a:r>
              <a:t>1. USER / CLIENT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Next.js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188719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1E3A8A"/>
                </a:solidFill>
                <a:latin typeface="Trebuchet MS"/>
              </a:defRPr>
            </a:pPr>
            <a:r>
              <a:t>Citizen Portal (/citizen)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OTP Login • Deed Upload • Application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188719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1E3A8A"/>
                </a:solidFill>
                <a:latin typeface="Trebuchet MS"/>
              </a:defRPr>
            </a:pPr>
            <a:r>
              <a:t>Officer Console (/officer)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Verification Queue • Statutory Inspection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188719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1E3A8A"/>
                </a:solidFill>
                <a:latin typeface="Trebuchet MS"/>
              </a:defRPr>
            </a:pPr>
            <a:r>
              <a:t>Public QR Verify (/verify)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Instant 3-Tier Document Authenticity Check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35040" y="1920240"/>
            <a:ext cx="219456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1094415" cy="804672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39696"/>
            <a:ext cx="2240280" cy="8046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100">
                <a:solidFill>
                  <a:srgbClr val="FFFFFF"/>
                </a:solidFill>
                <a:latin typeface="Trebuchet MS"/>
              </a:defRPr>
            </a:pPr>
            <a:r>
              <a:t>2. API &amp; SECURITY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Node.js + 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249424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0284C7"/>
                </a:solidFill>
                <a:latin typeface="Trebuchet MS"/>
              </a:defRPr>
            </a:pPr>
            <a:r>
              <a:t>REST APIs &amp; Router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Modular Endpoints • Centralized Request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249424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0284C7"/>
                </a:solidFill>
                <a:latin typeface="Trebuchet MS"/>
              </a:defRPr>
            </a:pPr>
            <a:r>
              <a:t>RBAC &amp; Multi-Factor Auth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JWT Cookies • DLT SMS (MSG91) • HMAC Email 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249424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0284C7"/>
                </a:solidFill>
                <a:latin typeface="Trebuchet MS"/>
              </a:defRPr>
            </a:pPr>
            <a:r>
              <a:t>Zod Guards &amp; Multer Ingest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Strict Schema Validation • Scanned File Vault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35040" y="2980944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11094415" cy="80467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2240280" cy="804672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100">
                <a:solidFill>
                  <a:srgbClr val="FFFFFF"/>
                </a:solidFill>
                <a:latin typeface="Trebuchet MS"/>
              </a:defRPr>
            </a:pPr>
            <a:r>
              <a:t>3. AI PIPELINE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Python 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3310128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OpenCV Vision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CLAHE 3.5 Contrast Boost • Faint Ink Rescue • Deskew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310128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Multilingual OCR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EasyOCR + Tesseract (Marathi Devanagari + English)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310128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Cadastral NER Extractor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Extracts Owner, Survey/Gat #, Khata Account, Area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035040" y="4041648"/>
            <a:ext cx="219456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261104"/>
            <a:ext cx="11094415" cy="80467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261104"/>
            <a:ext cx="2240280" cy="8046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100">
                <a:solidFill>
                  <a:srgbClr val="FFFFFF"/>
                </a:solidFill>
                <a:latin typeface="Trebuchet MS"/>
              </a:defRPr>
            </a:pPr>
            <a:r>
              <a:t>4. REVIEW &amp; STORE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HITL + MongoDB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4370832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D97706"/>
                </a:solidFill>
                <a:latin typeface="Trebuchet MS"/>
              </a:defRPr>
            </a:pPr>
            <a:r>
              <a:t>Split-Screen Workstation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Original Scan vs AI Extracted Entities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4370832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D97706"/>
                </a:solidFill>
                <a:latin typeface="Trebuchet MS"/>
              </a:defRPr>
            </a:pPr>
            <a:r>
              <a:t>Statutory Officer Sign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Dual Digital Signatures (DSC-VER &amp; DSC-OFF)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370832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D97706"/>
                </a:solidFill>
                <a:latin typeface="Trebuchet MS"/>
              </a:defRPr>
            </a:pPr>
            <a:r>
              <a:t>MongoDB 8 Persistence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LandRecords (ULPIN-Indexed) + Immutable AuditLog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035040" y="5102352"/>
            <a:ext cx="219456" cy="18288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321808"/>
            <a:ext cx="11094415" cy="804672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321808"/>
            <a:ext cx="2240280" cy="8046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100">
                <a:solidFill>
                  <a:srgbClr val="FFFFFF"/>
                </a:solidFill>
                <a:latin typeface="Trebuchet MS"/>
              </a:defRPr>
            </a:pPr>
            <a:r>
              <a:t>5. SECURE SEAL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QR + Cryptography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" y="5431536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7C3AED"/>
                </a:solidFill>
                <a:latin typeface="Trebuchet MS"/>
              </a:defRPr>
            </a:pPr>
            <a:r>
              <a:t>Digital Cloud Anchor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Unique Doc ID (DOC-MH-2026-XXXX) + SHA-256 Hash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5431536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7C3AED"/>
                </a:solidFill>
                <a:latin typeface="Trebuchet MS"/>
              </a:defRPr>
            </a:pPr>
            <a:r>
              <a:t>+ Physical Sticker Seal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80mm Tamper-Evident Adhesive Sticker + Secret PIN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5431536"/>
            <a:ext cx="2761488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b="1" sz="950">
                <a:solidFill>
                  <a:srgbClr val="7C3AED"/>
                </a:solidFill>
                <a:latin typeface="Trebuchet MS"/>
              </a:defRPr>
            </a:pPr>
            <a:r>
              <a:t>➔ 3-Tier Outcome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[PASS] Valid Match | [WARN] Digital | [ALERT] Tamper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Simplified System Architecture • Clear 5-Tier Governance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100% Native PowerPoint Shapes (Fully Editable)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