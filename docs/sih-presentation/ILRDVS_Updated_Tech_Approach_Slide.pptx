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TECHNICAL APPROACH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ILRDVS • Intelligent Land Record Digitization, Cadastral Validation &amp; Dual-Factor Verification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96112"/>
            <a:ext cx="3520440" cy="5715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50">
                <a:solidFill>
                  <a:srgbClr val="0F172A"/>
                </a:solidFill>
                <a:latin typeface="Trebuchet MS"/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307592"/>
            <a:ext cx="3264408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bIns="36576"/>
          <a:lstStyle/>
          <a:p>
            <a:pPr algn="ctr">
              <a:spcAft>
                <a:spcPts val="200"/>
              </a:spcAft>
              <a:defRPr b="1" sz="850">
                <a:solidFill>
                  <a:srgbClr val="0F172A"/>
                </a:solidFill>
                <a:latin typeface="Trebuchet MS"/>
              </a:defRPr>
            </a:pPr>
            <a:r>
              <a:t>TIER 1: PRESENTATION &amp; CLIENT LAYER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Next.js 14 App Router (Citizen &amp; Officer Portals)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Inspector Dual-Pane Workstation (Confidence Gauges)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Role-Based Portals (Admin, Officer, Verifier, Citizen)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Public QR Verification Portal &amp; GIGW Screen-Reader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2615184"/>
            <a:ext cx="3264408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bIns="36576"/>
          <a:lstStyle/>
          <a:p>
            <a:pPr algn="ctr">
              <a:spcAft>
                <a:spcPts val="200"/>
              </a:spcAft>
              <a:defRPr b="1" sz="850">
                <a:solidFill>
                  <a:srgbClr val="0F172A"/>
                </a:solidFill>
                <a:latin typeface="Trebuchet MS"/>
              </a:defRPr>
            </a:pPr>
            <a:r>
              <a:t>TIER 2: API GATEWAY &amp; SECURITY LAYER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Node.js + Express TypeScript API (High-Throughput)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TRAI DLT MSG91 SMS + Zero-Plaintext HMAC Email OTP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Strict RBAC &amp; JWT in HTTP-Only Cookies (BCrypt)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Zod Schema Validation &amp; Multer Vault (SHA-256 Hashes)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3922776"/>
            <a:ext cx="3264408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bIns="36576"/>
          <a:lstStyle/>
          <a:p>
            <a:pPr algn="ctr">
              <a:spcAft>
                <a:spcPts val="200"/>
              </a:spcAft>
              <a:defRPr b="1" sz="850">
                <a:solidFill>
                  <a:srgbClr val="0F172A"/>
                </a:solidFill>
                <a:latin typeface="Trebuchet MS"/>
              </a:defRPr>
            </a:pPr>
            <a:r>
              <a:t>TIER 3: AI &amp; COMPUTER VISION MICROSERVICE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OpenCV Adaptive Vision (CLAHE 3.5, Deskew, Rotate)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Multilingual OCR (EasyOCR + Tesseract: Marathi &amp; En)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Cadastral NER Pipeline (Owner, Gat#, Area, Khata, Village)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Self-Diagnosis Loop &amp; Adaptive Multi-Pass Consensus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5230368"/>
            <a:ext cx="3264408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bIns="36576"/>
          <a:lstStyle/>
          <a:p>
            <a:pPr algn="ctr">
              <a:spcAft>
                <a:spcPts val="200"/>
              </a:spcAft>
              <a:defRPr b="1" sz="850">
                <a:solidFill>
                  <a:srgbClr val="0F172A"/>
                </a:solidFill>
                <a:latin typeface="Trebuchet MS"/>
              </a:defRPr>
            </a:pPr>
            <a:r>
              <a:t>TIER 4: CADASTRAL DATA &amp; COMPLIANCE STORE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MongoDB 8 Persistence (Compound-Indexed on ULPIN)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Unified 8-Layer Land Stack (DILRMP 3.0 Guidelines)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Cadastral Sanity Engine (Unit: Guntha/Are ➔ Hectare)</a:t>
            </a:r>
          </a:p>
          <a:p>
            <a:pPr>
              <a:spcAft>
                <a:spcPts val="100"/>
              </a:spcAft>
              <a:defRPr sz="700">
                <a:solidFill>
                  <a:srgbClr val="1E293B"/>
                </a:solidFill>
                <a:latin typeface="Arial"/>
              </a:defRPr>
            </a:pPr>
            <a:r>
              <a:t>• Dual-Factor Physical QR Sticker (Secret PIN) &amp; AuditLog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896112"/>
            <a:ext cx="3703320" cy="5715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969264"/>
            <a:ext cx="3520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50">
                <a:solidFill>
                  <a:srgbClr val="0F172A"/>
                </a:solidFill>
                <a:latin typeface="Trebuchet MS"/>
              </a:defRPr>
            </a:pPr>
            <a:r>
              <a:t>PROCESS FLOWCHART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298448"/>
            <a:ext cx="3447287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 rIns="73152" bIns="18288"/>
          <a:lstStyle/>
          <a:p>
            <a:pPr algn="ctr"/>
            <a:r>
              <a:rPr b="1" sz="800">
                <a:solidFill>
                  <a:srgbClr val="1E3A8A"/>
                </a:solidFill>
              </a:rPr>
              <a:t>[1] </a:t>
            </a:r>
            <a:r>
              <a:rPr b="1" sz="800">
                <a:solidFill>
                  <a:srgbClr val="0F172A"/>
                </a:solidFill>
              </a:rPr>
              <a:t>Document Upload &amp; Intake</a:t>
            </a:r>
          </a:p>
          <a:p>
            <a:pPr>
              <a:defRPr sz="680">
                <a:solidFill>
                  <a:srgbClr val="475569"/>
                </a:solidFill>
                <a:latin typeface="Arial"/>
              </a:defRPr>
            </a:pPr>
            <a:r>
              <a:t>Citizen/Officer uploads 7/12, 8A, Ferfar; SHA-256 hash computed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057900" y="1842516"/>
            <a:ext cx="182880" cy="100584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25696" y="1961388"/>
            <a:ext cx="3447287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 rIns="73152" bIns="18288"/>
          <a:lstStyle/>
          <a:p>
            <a:pPr algn="ctr"/>
            <a:r>
              <a:rPr b="1" sz="800">
                <a:solidFill>
                  <a:srgbClr val="1E3A8A"/>
                </a:solidFill>
              </a:rPr>
              <a:t>[2] </a:t>
            </a:r>
            <a:r>
              <a:rPr b="1" sz="800">
                <a:solidFill>
                  <a:srgbClr val="0F172A"/>
                </a:solidFill>
              </a:rPr>
              <a:t>Adaptive OpenCV Vision</a:t>
            </a:r>
          </a:p>
          <a:p>
            <a:pPr>
              <a:defRPr sz="680">
                <a:solidFill>
                  <a:srgbClr val="475569"/>
                </a:solidFill>
                <a:latin typeface="Arial"/>
              </a:defRPr>
            </a:pPr>
            <a:r>
              <a:t>Hough deskew (±15°), CLAHE 3.5 contrast boost for faded blue ink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057900" y="2505456"/>
            <a:ext cx="182880" cy="100584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2624328"/>
            <a:ext cx="3447287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 rIns="73152" bIns="18288"/>
          <a:lstStyle/>
          <a:p>
            <a:pPr algn="ctr"/>
            <a:r>
              <a:rPr b="1" sz="800">
                <a:solidFill>
                  <a:srgbClr val="1E3A8A"/>
                </a:solidFill>
              </a:rPr>
              <a:t>[3] </a:t>
            </a:r>
            <a:r>
              <a:rPr b="1" sz="800">
                <a:solidFill>
                  <a:srgbClr val="0F172A"/>
                </a:solidFill>
              </a:rPr>
              <a:t>Classification &amp; Layout Parsing</a:t>
            </a:r>
          </a:p>
          <a:p>
            <a:pPr>
              <a:defRPr sz="680">
                <a:solidFill>
                  <a:srgbClr val="475569"/>
                </a:solidFill>
                <a:latin typeface="Arial"/>
              </a:defRPr>
            </a:pPr>
            <a:r>
              <a:t>Rule-based identification: 7/12 Satbara, Form 8A, Ferfar, Sale Deed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57900" y="3168396"/>
            <a:ext cx="182880" cy="100584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25696" y="3287268"/>
            <a:ext cx="3447287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 rIns="73152" bIns="18288"/>
          <a:lstStyle/>
          <a:p>
            <a:pPr algn="ctr"/>
            <a:r>
              <a:rPr b="1" sz="800">
                <a:solidFill>
                  <a:srgbClr val="1E3A8A"/>
                </a:solidFill>
              </a:rPr>
              <a:t>[4] </a:t>
            </a:r>
            <a:r>
              <a:rPr b="1" sz="800">
                <a:solidFill>
                  <a:srgbClr val="0F172A"/>
                </a:solidFill>
              </a:rPr>
              <a:t>Multilingual OCR Engine</a:t>
            </a:r>
          </a:p>
          <a:p>
            <a:pPr>
              <a:defRPr sz="680">
                <a:solidFill>
                  <a:srgbClr val="475569"/>
                </a:solidFill>
                <a:latin typeface="Arial"/>
              </a:defRPr>
            </a:pPr>
            <a:r>
              <a:t>EasyOCR + Tesseract extracts Marathi Devanagari &amp; English tokens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057900" y="3831335"/>
            <a:ext cx="182880" cy="100584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25696" y="3950208"/>
            <a:ext cx="3447287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 rIns="73152" bIns="18288"/>
          <a:lstStyle/>
          <a:p>
            <a:pPr algn="ctr"/>
            <a:r>
              <a:rPr b="1" sz="800">
                <a:solidFill>
                  <a:srgbClr val="1E3A8A"/>
                </a:solidFill>
              </a:rPr>
              <a:t>[5] </a:t>
            </a:r>
            <a:r>
              <a:rPr b="1" sz="800">
                <a:solidFill>
                  <a:srgbClr val="0F172A"/>
                </a:solidFill>
              </a:rPr>
              <a:t>Cadastral Entity NER</a:t>
            </a:r>
          </a:p>
          <a:p>
            <a:pPr>
              <a:defRPr sz="680">
                <a:solidFill>
                  <a:srgbClr val="475569"/>
                </a:solidFill>
                <a:latin typeface="Arial"/>
              </a:defRPr>
            </a:pPr>
            <a:r>
              <a:t>Extracts Owner Name, Survey/Gat #, Area, Khata; flags missing fields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57900" y="4494276"/>
            <a:ext cx="182880" cy="100584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25696" y="4613148"/>
            <a:ext cx="3447287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 rIns="73152" bIns="18288"/>
          <a:lstStyle/>
          <a:p>
            <a:pPr algn="ctr"/>
            <a:r>
              <a:rPr b="1" sz="800">
                <a:solidFill>
                  <a:srgbClr val="1E3A8A"/>
                </a:solidFill>
              </a:rPr>
              <a:t>[6] </a:t>
            </a:r>
            <a:r>
              <a:rPr b="1" sz="800">
                <a:solidFill>
                  <a:srgbClr val="0F172A"/>
                </a:solidFill>
              </a:rPr>
              <a:t>8-Layer Stack &amp; Sanity Check</a:t>
            </a:r>
          </a:p>
          <a:p>
            <a:pPr>
              <a:defRPr sz="680">
                <a:solidFill>
                  <a:srgbClr val="475569"/>
                </a:solidFill>
                <a:latin typeface="Arial"/>
              </a:defRPr>
            </a:pPr>
            <a:r>
              <a:t>Unit conversion (Guntha-&gt;Ha), Mahabhulekh RoR, CERSAI &amp; Court stays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057900" y="5157216"/>
            <a:ext cx="182880" cy="100584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25696" y="5276088"/>
            <a:ext cx="3447287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 rIns="73152" bIns="18288"/>
          <a:lstStyle/>
          <a:p>
            <a:pPr algn="ctr"/>
            <a:r>
              <a:rPr b="1" sz="800">
                <a:solidFill>
                  <a:srgbClr val="1E3A8A"/>
                </a:solidFill>
              </a:rPr>
              <a:t>[7] </a:t>
            </a:r>
            <a:r>
              <a:rPr b="1" sz="800">
                <a:solidFill>
                  <a:srgbClr val="0F172A"/>
                </a:solidFill>
              </a:rPr>
              <a:t>Statutory HITL Verification</a:t>
            </a:r>
          </a:p>
          <a:p>
            <a:pPr>
              <a:defRPr sz="680">
                <a:solidFill>
                  <a:srgbClr val="475569"/>
                </a:solidFill>
                <a:latin typeface="Arial"/>
              </a:defRPr>
            </a:pPr>
            <a:r>
              <a:t>Split-screen review: Verifier DSC-VER sign, Officer DSC-OFF approval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057900" y="5820155"/>
            <a:ext cx="182880" cy="100584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25696" y="5939028"/>
            <a:ext cx="3447287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 rIns="73152" bIns="18288"/>
          <a:lstStyle/>
          <a:p>
            <a:pPr algn="ctr"/>
            <a:r>
              <a:rPr b="1" sz="800">
                <a:solidFill>
                  <a:srgbClr val="1E3A8A"/>
                </a:solidFill>
              </a:rPr>
              <a:t>[8] </a:t>
            </a:r>
            <a:r>
              <a:rPr b="1" sz="800">
                <a:solidFill>
                  <a:srgbClr val="0F172A"/>
                </a:solidFill>
              </a:rPr>
              <a:t>Output Delivery &amp; QR Seal</a:t>
            </a:r>
          </a:p>
          <a:p>
            <a:pPr>
              <a:defRPr sz="680">
                <a:solidFill>
                  <a:srgbClr val="475569"/>
                </a:solidFill>
                <a:latin typeface="Arial"/>
              </a:defRPr>
            </a:pPr>
            <a:r>
              <a:t>Certified record + 80mm physical sticker QR with Secret PIN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11312" y="896112"/>
            <a:ext cx="3429000" cy="5715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96926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50">
                <a:solidFill>
                  <a:srgbClr val="0F172A"/>
                </a:solidFill>
                <a:latin typeface="Trebuchet MS"/>
              </a:defRPr>
            </a:pPr>
            <a:r>
              <a:t>TECH STACK USED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9328" y="1307592"/>
            <a:ext cx="3172968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bIns="36576"/>
          <a:lstStyle/>
          <a:p>
            <a:pPr algn="ctr">
              <a:spcAft>
                <a:spcPts val="200"/>
              </a:spcAft>
              <a:defRPr b="1" sz="850">
                <a:solidFill>
                  <a:srgbClr val="0F172A"/>
                </a:solidFill>
                <a:latin typeface="Trebuchet MS"/>
              </a:defRPr>
            </a:pPr>
            <a:r>
              <a:t>1. Frontend Client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Next.js 14 (App Router, Server Components)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React 18 + TypeScript (Strict Mode)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Tailwind CSS (Government Enterprise Palette)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TanStack Query v5 (Client Server-State Cache)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Recharts Analytics &amp; Lucide Icons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GIGW / WCAG 2.1 Accessible Screen Reader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39328" y="2615184"/>
            <a:ext cx="3172968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bIns="36576"/>
          <a:lstStyle/>
          <a:p>
            <a:pPr algn="ctr">
              <a:spcAft>
                <a:spcPts val="200"/>
              </a:spcAft>
              <a:defRPr b="1" sz="850">
                <a:solidFill>
                  <a:srgbClr val="0F172A"/>
                </a:solidFill>
                <a:latin typeface="Trebuchet MS"/>
              </a:defRPr>
            </a:pPr>
            <a:r>
              <a:t>2. Backend &amp; Security Gateway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Node.js + Express.js TS (High-Throughput)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TRAI DLT MSG91 SMS (DLT-Approved Template)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Zero-Plaintext HMAC-SHA256 Email OTP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JWT in HTTP-Only Cookies (BCrypt Salted)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Zod Request Validation (Body, Query, Params)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Multer Upload Engine &amp; Morgan Logger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9328" y="3922776"/>
            <a:ext cx="3172968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bIns="36576"/>
          <a:lstStyle/>
          <a:p>
            <a:pPr algn="ctr">
              <a:spcAft>
                <a:spcPts val="200"/>
              </a:spcAft>
              <a:defRPr b="1" sz="850">
                <a:solidFill>
                  <a:srgbClr val="0F172A"/>
                </a:solidFill>
                <a:latin typeface="Trebuchet MS"/>
              </a:defRPr>
            </a:pPr>
            <a:r>
              <a:t>3. AI, Vision &amp; OCR Pipeline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Python FastAPI Asynchronous Microservice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OpenCV (CLAHE 3.5, Hough Deskew, Denoise)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EasyOCR + Tesseract Multilingual (Marathi/Eng)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Cadastral Entity NER Pipeline (BIO-Tagging)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Self-Diagnosis &amp; Confidence Consensus Merger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Continuous Feedback Service (Active Learning)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39328" y="5230368"/>
            <a:ext cx="3172968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bIns="36576"/>
          <a:lstStyle/>
          <a:p>
            <a:pPr algn="ctr">
              <a:spcAft>
                <a:spcPts val="200"/>
              </a:spcAft>
              <a:defRPr b="1" sz="850">
                <a:solidFill>
                  <a:srgbClr val="0F172A"/>
                </a:solidFill>
                <a:latin typeface="Trebuchet MS"/>
              </a:defRPr>
            </a:pPr>
            <a:r>
              <a:t>4. Cadastral DB &amp; Compliance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MongoDB 8 + Mongoose (Compound ULPIN Index)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Unified 8-Layer Land Stack (DILRMP 3.0 Standard)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Maharashtra LRC Unit Converter (Guntha/Are/Ha)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Dual Digital Signatures (DSC-VER &amp; DSC-OFF)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Dual-Factor Physical QR Protocol (Secret PIN)</a:t>
            </a:r>
          </a:p>
          <a:p>
            <a:pPr>
              <a:spcAft>
                <a:spcPts val="100"/>
              </a:spcAft>
              <a:defRPr sz="680">
                <a:solidFill>
                  <a:srgbClr val="1E293B"/>
                </a:solidFill>
                <a:latin typeface="Arial"/>
              </a:defRPr>
            </a:pPr>
            <a:r>
              <a:t>• Immutable RTI-Compliant AuditLog Vault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