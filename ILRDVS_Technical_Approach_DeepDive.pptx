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   SMART INDIA HACKATHON 2026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     Technical Approach &amp; System Architecture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217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Project Name: </a:t>
            </a:r>
            <a:r>
              <a:rPr sz="1300">
                <a:solidFill>
                  <a:srgbClr val="1E293B"/>
                </a:solidFill>
                <a:latin typeface="Arial"/>
              </a:rPr>
              <a:t>ILRDVS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Full Title: </a:t>
            </a:r>
            <a:r>
              <a:rPr sz="1300">
                <a:solidFill>
                  <a:srgbClr val="1E293B"/>
                </a:solidFill>
                <a:latin typeface="Arial"/>
              </a:rPr>
              <a:t>Intelligent Land Record Digitization &amp; Validation System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Domain: </a:t>
            </a:r>
            <a:r>
              <a:rPr sz="1300">
                <a:solidFill>
                  <a:srgbClr val="1E293B"/>
                </a:solidFill>
                <a:latin typeface="Arial"/>
              </a:rPr>
              <a:t>Smart Governance • Digital Public Infrastructure (DPI)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Focus Area: </a:t>
            </a:r>
            <a:r>
              <a:rPr sz="1300">
                <a:solidFill>
                  <a:srgbClr val="1E293B"/>
                </a:solidFill>
                <a:latin typeface="Arial"/>
              </a:rPr>
              <a:t>End-to-End AI Extraction, HITL Workstation &amp; Dual-Factor QR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National Alignment: </a:t>
            </a:r>
            <a:r>
              <a:rPr sz="1300">
                <a:solidFill>
                  <a:srgbClr val="1E293B"/>
                </a:solidFill>
                <a:latin typeface="Arial"/>
              </a:rPr>
              <a:t>DILRMP 3.0 Standard • 14-Digit Bhu-Aadhaar (ULPIN)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429768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spcAft>
                <a:spcPts val="1400"/>
              </a:spcAft>
              <a:defRPr b="1" sz="2000">
                <a:solidFill>
                  <a:srgbClr val="D97706"/>
                </a:solidFill>
                <a:latin typeface="Trebuchet MS"/>
              </a:defRPr>
            </a:pPr>
            <a:r>
              <a:t>ENGINEERING PILLARS</a:t>
            </a:r>
          </a:p>
          <a:p>
            <a:pPr>
              <a:spcAft>
                <a:spcPts val="8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⚡ Real-World Case: 1978 Faded 7/12 Satbara Extract</a:t>
            </a:r>
          </a:p>
          <a:p>
            <a:pPr>
              <a:spcAft>
                <a:spcPts val="8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⚡ OpenCV CLAHE 3.5 Contrast Boost + Devanagari OCR</a:t>
            </a:r>
          </a:p>
          <a:p>
            <a:pPr>
              <a:spcAft>
                <a:spcPts val="8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⚡ Cadastral NER Model with Missing-Field Self-Diagnosis</a:t>
            </a:r>
          </a:p>
          <a:p>
            <a:pPr>
              <a:spcAft>
                <a:spcPts val="8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⚡ Statutory HITL Workstation with DSC-OFF Digital Sign</a:t>
            </a:r>
          </a:p>
          <a:p>
            <a:pPr>
              <a:spcAft>
                <a:spcPts val="8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⚡ Dual-Factor Physical Sticker PIN &amp; 2D QR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 of 8 | SIH Technical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REAL-WORLD CASE STUDY: FADED 1978 7/12 SATBARA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PRACTICAL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B91C1C"/>
                </a:solidFill>
                <a:latin typeface="Trebuchet MS"/>
              </a:defRPr>
            </a:pPr>
            <a:r>
              <a:t>⚠️ THE REAL-WORLD PROBLEM (Ground Reality)</a:t>
            </a:r>
          </a:p>
          <a:p>
            <a:pPr>
              <a:spcAft>
                <a:spcPts val="600"/>
              </a:spcAft>
              <a:defRPr b="1" sz="950">
                <a:solidFill>
                  <a:srgbClr val="0F172A"/>
                </a:solidFill>
                <a:latin typeface="Trebuchet MS"/>
              </a:defRPr>
            </a:pPr>
            <a:r>
              <a:t>• Farmer / Landowner: </a:t>
            </a:r>
            <a:r>
              <a:rPr b="0" sz="900">
                <a:solidFill>
                  <a:srgbClr val="1E293B"/>
                </a:solidFill>
                <a:latin typeface="Arial"/>
              </a:rPr>
              <a:t>Ramesh Narayan Patil, Village Hinjawadi, Taluka Mulshi, Dist. Pune.</a:t>
            </a:r>
          </a:p>
          <a:p>
            <a:pPr>
              <a:spcAft>
                <a:spcPts val="600"/>
              </a:spcAft>
              <a:defRPr b="1" sz="950">
                <a:solidFill>
                  <a:srgbClr val="0F172A"/>
                </a:solidFill>
                <a:latin typeface="Trebuchet MS"/>
              </a:defRPr>
            </a:pPr>
            <a:r>
              <a:t>• Document in Hand: </a:t>
            </a:r>
            <a:r>
              <a:rPr b="0" sz="900">
                <a:solidFill>
                  <a:srgbClr val="1E293B"/>
                </a:solidFill>
                <a:latin typeface="Arial"/>
              </a:rPr>
              <a:t>A 48-year-old physical paper 7/12 Satbara extract issued in 1978.</a:t>
            </a:r>
          </a:p>
          <a:p>
            <a:pPr>
              <a:spcAft>
                <a:spcPts val="600"/>
              </a:spcAft>
              <a:defRPr b="1" sz="950">
                <a:solidFill>
                  <a:srgbClr val="0F172A"/>
                </a:solidFill>
                <a:latin typeface="Trebuchet MS"/>
              </a:defRPr>
            </a:pPr>
            <a:r>
              <a:t>• Physical Condition: </a:t>
            </a:r>
            <a:r>
              <a:rPr b="0" sz="900">
                <a:solidFill>
                  <a:srgbClr val="1E293B"/>
                </a:solidFill>
                <a:latin typeface="Arial"/>
              </a:rPr>
              <a:t>Aged yellowed paper, faded blue handwritten Devanagari ink, smudged round revenue stamp, and paper fold creases.</a:t>
            </a:r>
          </a:p>
          <a:p>
            <a:pPr>
              <a:spcAft>
                <a:spcPts val="600"/>
              </a:spcAft>
              <a:defRPr b="1" sz="950">
                <a:solidFill>
                  <a:srgbClr val="0F172A"/>
                </a:solidFill>
                <a:latin typeface="Trebuchet MS"/>
              </a:defRPr>
            </a:pPr>
            <a:r>
              <a:t>• The Bottleneck: </a:t>
            </a:r>
            <a:r>
              <a:rPr b="0" sz="900">
                <a:solidFill>
                  <a:srgbClr val="1E293B"/>
                </a:solidFill>
                <a:latin typeface="Arial"/>
              </a:rPr>
              <a:t>Ramesh applied for an agricultural bank loan. The bank rejected the photocopied extract due to unreadable survey boundaries and fears of paper forgery.</a:t>
            </a:r>
          </a:p>
          <a:p>
            <a:pPr>
              <a:spcAft>
                <a:spcPts val="600"/>
              </a:spcAft>
              <a:defRPr b="1" sz="950">
                <a:solidFill>
                  <a:srgbClr val="0F172A"/>
                </a:solidFill>
                <a:latin typeface="Trebuchet MS"/>
              </a:defRPr>
            </a:pPr>
            <a:r>
              <a:t>• Old Manual Process: </a:t>
            </a:r>
            <a:r>
              <a:rPr b="0" sz="900">
                <a:solidFill>
                  <a:srgbClr val="1E293B"/>
                </a:solidFill>
                <a:latin typeface="Arial"/>
              </a:rPr>
              <a:t>Required visiting the local Tehsil office, paying middlemen, and waiting 45 to 60 days for manual ledger cross-verification.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047857"/>
                </a:solidFill>
                <a:latin typeface="Trebuchet MS"/>
              </a:defRPr>
            </a:pPr>
            <a:r>
              <a:t>✅ THE ILRDVS SOLUTION &amp; OUTCOME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Step 1 (Upload): </a:t>
            </a:r>
            <a:r>
              <a:rPr b="0" sz="900">
                <a:solidFill>
                  <a:srgbClr val="1E293B"/>
                </a:solidFill>
                <a:latin typeface="Arial"/>
              </a:rPr>
              <a:t>Ramesh takes a phone camera scan and uploads it via the /citizen portal.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Step 2 (AI Rescue): </a:t>
            </a:r>
            <a:r>
              <a:rPr b="0" sz="900">
                <a:solidFill>
                  <a:srgbClr val="1E293B"/>
                </a:solidFill>
                <a:latin typeface="Arial"/>
              </a:rPr>
              <a:t>OpenCV CLAHE 3.5 enhances contrast; EasyOCR reads the faint ink: 'रमेश नारायण पाटील', Gat No. 104/4B, Area: 0.84 Hectares.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Step 3 (Cross-Check): </a:t>
            </a:r>
            <a:r>
              <a:rPr b="0" sz="900">
                <a:solidFill>
                  <a:srgbClr val="1E293B"/>
                </a:solidFill>
                <a:latin typeface="Arial"/>
              </a:rPr>
              <a:t>System algorithmically matches Gat 104 in Mahabhulekh &amp; confirms zero active mortgage encumbrance in CERSAI.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Step 4 (Officer Sign): </a:t>
            </a:r>
            <a:r>
              <a:rPr b="0" sz="900">
                <a:solidFill>
                  <a:srgbClr val="1E293B"/>
                </a:solidFill>
                <a:latin typeface="Arial"/>
              </a:rPr>
              <a:t>Talathi &amp; Tehsildar inspect side-by-side scan in workstation and apply digital certification (DSC-OFF).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Step 5 (Dual-Factor Seal): </a:t>
            </a:r>
            <a:r>
              <a:rPr b="0" sz="900">
                <a:solidFill>
                  <a:srgbClr val="1E293B"/>
                </a:solidFill>
                <a:latin typeface="Arial"/>
              </a:rPr>
              <a:t>Generates Document ID DOC-MH-2026-1042 + Secret PIN SEC-89A4-2C71 on an 80mm adhesive sticker affixed to the deed.</a:t>
            </a:r>
          </a:p>
          <a:p>
            <a:pPr>
              <a:spcAft>
                <a:spcPts val="400"/>
              </a:spcAft>
              <a:defRPr b="1" sz="950">
                <a:solidFill>
                  <a:srgbClr val="047857"/>
                </a:solidFill>
                <a:latin typeface="Trebuchet MS"/>
              </a:defRPr>
            </a:pPr>
            <a:r>
              <a:t>▶ Real-World Result: </a:t>
            </a:r>
            <a:r>
              <a:rPr b="0" sz="900">
                <a:solidFill>
                  <a:srgbClr val="1E293B"/>
                </a:solidFill>
                <a:latin typeface="Arial"/>
              </a:rPr>
              <a:t>Bank officer scans the QR code at /verify-document. Tier 2 Authenticated Match confirmed in 10 seconds. Loan sanctioned in 24 hours!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2 of 8 | SIH Technical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REAL-WORLD ILLUSTRATED PROCESS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END-TO-END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_world_process_flow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11277295" cy="5321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3 of 8 | SIH Technical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SYSTEM ARCHITECTURE: 7-LAYER ENTERPRISE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GOVERNANCE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11277295" cy="5321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4 of 8 | SIH Technical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PROCESS FLOWCHART: DECISION &amp; RE-OCR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DECISION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2_proces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11277295" cy="5321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5 of 8 | SIH Technical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AI PIPELINE: ADAPTIVE PREPROCESSING &amp; 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COMPUTER VISION &amp;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4747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1E3A8A"/>
                </a:solidFill>
                <a:latin typeface="Trebuchet MS"/>
              </a:defRPr>
            </a:pPr>
            <a:r>
              <a:t>1. OPENCV ADAPTIVE VISION</a:t>
            </a:r>
          </a:p>
          <a:p>
            <a:pPr>
              <a:spcAft>
                <a:spcPts val="400"/>
              </a:spcAft>
              <a:defRPr b="1" sz="900">
                <a:solidFill>
                  <a:srgbClr val="0F172A"/>
                </a:solidFill>
              </a:defRPr>
            </a:pPr>
            <a:r>
              <a:t>• CLAHE Contrast Stretching: </a:t>
            </a:r>
            <a:r>
              <a:rPr b="0" sz="850">
                <a:solidFill>
                  <a:srgbClr val="1E293B"/>
                </a:solidFill>
              </a:rPr>
              <a:t>Applies clipLimit 3.5 with an 8x8 tile grid. Rescues faint Devanagari handwriting and faded ink stamps.</a:t>
            </a:r>
          </a:p>
          <a:p>
            <a:pPr>
              <a:spcAft>
                <a:spcPts val="400"/>
              </a:spcAft>
              <a:defRPr b="1" sz="900">
                <a:solidFill>
                  <a:srgbClr val="0F172A"/>
                </a:solidFill>
              </a:defRPr>
            </a:pPr>
            <a:r>
              <a:t>• Automated Deskewing: </a:t>
            </a:r>
            <a:r>
              <a:rPr b="0" sz="850">
                <a:solidFill>
                  <a:srgbClr val="1E293B"/>
                </a:solidFill>
              </a:rPr>
              <a:t>Calculates Hough transform line angles and rotates scanned documents up to ±15° to achieve horizontal text alignment.</a:t>
            </a:r>
          </a:p>
          <a:p>
            <a:pPr>
              <a:spcAft>
                <a:spcPts val="400"/>
              </a:spcAft>
              <a:defRPr b="1" sz="900">
                <a:solidFill>
                  <a:srgbClr val="0F172A"/>
                </a:solidFill>
              </a:defRPr>
            </a:pPr>
            <a:r>
              <a:t>• Multi-Angle Orientation Recovery: </a:t>
            </a:r>
            <a:r>
              <a:rPr b="0" sz="850">
                <a:solidFill>
                  <a:srgbClr val="1E293B"/>
                </a:solidFill>
              </a:rPr>
              <a:t>Tests 90°, 180°, and 270° rotations if initial character yield is below 80 characters.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566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047857"/>
                </a:solidFill>
                <a:latin typeface="Trebuchet MS"/>
              </a:defRPr>
            </a:pPr>
            <a:r>
              <a:t>2. CADASTRAL NER ENGINE</a:t>
            </a:r>
          </a:p>
          <a:p>
            <a:pPr>
              <a:spcAft>
                <a:spcPts val="400"/>
              </a:spcAft>
              <a:defRPr b="1" sz="900">
                <a:solidFill>
                  <a:srgbClr val="047857"/>
                </a:solidFill>
              </a:defRPr>
            </a:pPr>
            <a:r>
              <a:t>• Multilingual EasyOCR: </a:t>
            </a:r>
            <a:r>
              <a:rPr b="0" sz="850">
                <a:solidFill>
                  <a:srgbClr val="1E293B"/>
                </a:solidFill>
              </a:rPr>
              <a:t>Trained on Marathi Devanagari + Latin alphabets to parse mixed revenue documents seamlessly.</a:t>
            </a:r>
          </a:p>
          <a:p>
            <a:pPr>
              <a:spcAft>
                <a:spcPts val="400"/>
              </a:spcAft>
              <a:defRPr b="1" sz="900">
                <a:solidFill>
                  <a:srgbClr val="047857"/>
                </a:solidFill>
              </a:defRPr>
            </a:pPr>
            <a:r>
              <a:t>• Cadastral Entity Extraction: </a:t>
            </a:r>
            <a:r>
              <a:rPr b="0" sz="850">
                <a:solidFill>
                  <a:srgbClr val="1E293B"/>
                </a:solidFill>
              </a:rPr>
              <a:t>Specialized regex &amp; NLP patterns extract Owner Name, Survey/Gat #, Khata Account #, Area (Ha/Acre/R), Village, and Tehsil.</a:t>
            </a:r>
          </a:p>
          <a:p>
            <a:pPr>
              <a:spcAft>
                <a:spcPts val="400"/>
              </a:spcAft>
              <a:defRPr b="1" sz="900">
                <a:solidFill>
                  <a:srgbClr val="047857"/>
                </a:solidFill>
              </a:defRPr>
            </a:pPr>
            <a:r>
              <a:t>• Self-Diagnosis Check: </a:t>
            </a:r>
            <a:r>
              <a:rPr b="0" sz="850">
                <a:solidFill>
                  <a:srgbClr val="1E293B"/>
                </a:solidFill>
              </a:rPr>
              <a:t>Flags missing core entities and measures OCR confidence. Automatically branches into Strategy A (CLAHE) or Strategy C (Table cell parser).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34747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D97706"/>
                </a:solidFill>
                <a:latin typeface="Trebuchet MS"/>
              </a:defRPr>
            </a:pPr>
            <a:r>
              <a:t>3. ACTIVE CONTINUOUS LEARNING</a:t>
            </a:r>
          </a:p>
          <a:p>
            <a:pPr>
              <a:spcAft>
                <a:spcPts val="400"/>
              </a:spcAft>
              <a:defRPr b="1" sz="900">
                <a:solidFill>
                  <a:srgbClr val="D97706"/>
                </a:solidFill>
              </a:defRPr>
            </a:pPr>
            <a:r>
              <a:t>• Feedback Loop Service: </a:t>
            </a:r>
            <a:r>
              <a:rPr b="0" sz="850">
                <a:solidFill>
                  <a:srgbClr val="1E293B"/>
                </a:solidFill>
              </a:rPr>
              <a:t>Captures corrections made by human inspectors inside the split-screen workstation in real time.</a:t>
            </a:r>
          </a:p>
          <a:p>
            <a:pPr>
              <a:spcAft>
                <a:spcPts val="400"/>
              </a:spcAft>
              <a:defRPr b="1" sz="900">
                <a:solidFill>
                  <a:srgbClr val="D97706"/>
                </a:solidFill>
              </a:defRPr>
            </a:pPr>
            <a:r>
              <a:t>• Dynamic Synonym Registry: </a:t>
            </a:r>
            <a:r>
              <a:rPr b="0" sz="850">
                <a:solidFill>
                  <a:srgbClr val="1E293B"/>
                </a:solidFill>
              </a:rPr>
              <a:t>Automatically links spelling variations and colloquial Marathi revenue terms without full model retraining.</a:t>
            </a:r>
          </a:p>
          <a:p>
            <a:pPr>
              <a:spcAft>
                <a:spcPts val="400"/>
              </a:spcAft>
              <a:defRPr b="1" sz="900">
                <a:solidFill>
                  <a:srgbClr val="D97706"/>
                </a:solidFill>
              </a:defRPr>
            </a:pPr>
            <a:r>
              <a:t>• Confidence Consensus Merger: </a:t>
            </a:r>
            <a:r>
              <a:rPr b="0" sz="850">
                <a:solidFill>
                  <a:srgbClr val="1E293B"/>
                </a:solidFill>
              </a:rPr>
              <a:t>Across multi-pass attempts, merges only the highest-confidence individual field values into a unified JSON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6 of 8 | SIH Technical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SECURITY PROTOCOL: DUAL-FACTOR QR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FRAUD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E3A8A"/>
                </a:solidFill>
                <a:latin typeface="Trebuchet MS"/>
              </a:defRPr>
            </a:pPr>
            <a:r>
              <a:t>“A cloud database alone cannot stop someone from showing a fake paper photocopy in rural tehsils.”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FACTOR 1: DIGITAL CLOUD ANCHOR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Unique Document ID: Assigned per statutory record (e.g. DOC-MH-2026-1042).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SHA-256 Hash Checksum: Cryptographic fingerprint of original scan stored in MongoDB.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ULPIN Anchor: Anchored to 14-digit Bhu-Aadhaar cadastral vector parcel.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b="1" sz="1100">
                <a:solidFill>
                  <a:srgbClr val="047857"/>
                </a:solidFill>
                <a:latin typeface="Trebuchet MS"/>
              </a:defRPr>
            </a:pPr>
            <a:r>
              <a:t>FACTOR 2: PHYSICAL STICKER SEAL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Physical Adhesive Sticker: 80mm tamper-evident sticker printed by revenue authority.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Secret Security PIN: 8-character cryptographic token (e.g. SEC-89A4-2C71).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Proof of Physical Deed: Guarantees the paper document in hand matches the state registry.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11094415" cy="1920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600"/>
              </a:spcAft>
              <a:defRPr b="1" sz="1200">
                <a:solidFill>
                  <a:srgbClr val="D97706"/>
                </a:solidFill>
                <a:latin typeface="Trebuchet MS"/>
              </a:defRPr>
            </a:pPr>
            <a:r>
              <a:t>THE 3-TIER VERIFICATION EVALUATION (/verify-document)</a:t>
            </a:r>
          </a:p>
          <a:p>
            <a:pPr>
              <a:spcAft>
                <a:spcPts val="300"/>
              </a:spcAft>
              <a:defRPr b="1" sz="950">
                <a:solidFill>
                  <a:srgbClr val="FFFFFF"/>
                </a:solidFill>
                <a:latin typeface="Trebuchet MS"/>
              </a:defRPr>
            </a:pPr>
            <a:r>
              <a:t>🟢 Tier 2: Authenticated Physical + Digital Match: </a:t>
            </a:r>
            <a:r>
              <a:rPr b="0" sz="850">
                <a:solidFill>
                  <a:srgbClr val="CBD5E1"/>
                </a:solidFill>
                <a:latin typeface="Arial"/>
              </a:rPr>
              <a:t>Both cloud document ID and physical sticker PIN match perfectly. Indisputable ownership standing confirmed. Loan/transaction cleared immediately.</a:t>
            </a:r>
          </a:p>
          <a:p>
            <a:pPr>
              <a:spcAft>
                <a:spcPts val="300"/>
              </a:spcAft>
              <a:defRPr b="1" sz="950">
                <a:solidFill>
                  <a:srgbClr val="FFFFFF"/>
                </a:solidFill>
                <a:latin typeface="Trebuchet MS"/>
              </a:defRPr>
            </a:pPr>
            <a:r>
              <a:t>🟡 Tier 1: Digital Record Only (Warning Flag): </a:t>
            </a:r>
            <a:r>
              <a:rPr b="0" sz="850">
                <a:solidFill>
                  <a:srgbClr val="CBD5E1"/>
                </a:solidFill>
                <a:latin typeface="Arial"/>
              </a:rPr>
              <a:t>Digital cloud archive is valid, but the user did not enter or verify the physical sticker PIN. System prompts for physical inspection before disbursal.</a:t>
            </a:r>
          </a:p>
          <a:p>
            <a:pPr>
              <a:spcAft>
                <a:spcPts val="300"/>
              </a:spcAft>
              <a:defRPr b="1" sz="950">
                <a:solidFill>
                  <a:srgbClr val="FFFFFF"/>
                </a:solidFill>
                <a:latin typeface="Trebuchet MS"/>
              </a:defRPr>
            </a:pPr>
            <a:r>
              <a:t>🔴 Tier 3: Tamper / Counterfeit Alert (Mismatch): </a:t>
            </a:r>
            <a:r>
              <a:rPr b="0" sz="850">
                <a:solidFill>
                  <a:srgbClr val="CBD5E1"/>
                </a:solidFill>
                <a:latin typeface="Arial"/>
              </a:rPr>
              <a:t>Secret PIN or SHA-256 hash does not match cloud records. Flags altered or forged paper photocopies immediately and notifies authorities.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7 of 8 | SIH Technical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  TECHNICAL SUMMARY &amp; LIVE JURY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READY FOR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  <a:latin typeface="Trebuchet MS"/>
              </a:defRPr>
            </a:pPr>
            <a:r>
              <a:t>🎯 WHY THIS ARCHITECTURE WINS</a:t>
            </a:r>
          </a:p>
          <a:p>
            <a:pPr>
              <a:spcAft>
                <a:spcPts val="500"/>
              </a:spcAft>
              <a:defRPr b="1" sz="950">
                <a:solidFill>
                  <a:srgbClr val="047857"/>
                </a:solidFill>
              </a:defRPr>
            </a:pPr>
            <a:r>
              <a:t>✓ Solves the Offline Problem: </a:t>
            </a:r>
            <a:r>
              <a:rPr b="0" sz="850">
                <a:solidFill>
                  <a:srgbClr val="1E293B"/>
                </a:solidFill>
              </a:rPr>
              <a:t>Dual-factor QR bridges the gap between physical paper deeds and cloud registries.</a:t>
            </a:r>
          </a:p>
          <a:p>
            <a:pPr>
              <a:spcAft>
                <a:spcPts val="500"/>
              </a:spcAft>
              <a:defRPr b="1" sz="950">
                <a:solidFill>
                  <a:srgbClr val="047857"/>
                </a:solidFill>
              </a:defRPr>
            </a:pPr>
            <a:r>
              <a:t>✓ Statutory Legal Feasibility: </a:t>
            </a:r>
            <a:r>
              <a:rPr b="0" sz="850">
                <a:solidFill>
                  <a:srgbClr val="1E293B"/>
                </a:solidFill>
              </a:rPr>
              <a:t>Keeps the human revenue officer as the final authority via digital signatures (DSC-OFF).</a:t>
            </a:r>
          </a:p>
          <a:p>
            <a:pPr>
              <a:spcAft>
                <a:spcPts val="500"/>
              </a:spcAft>
              <a:defRPr b="1" sz="950">
                <a:solidFill>
                  <a:srgbClr val="047857"/>
                </a:solidFill>
              </a:defRPr>
            </a:pPr>
            <a:r>
              <a:t>✓ Active Continuous Learning: </a:t>
            </a:r>
            <a:r>
              <a:rPr b="0" sz="850">
                <a:solidFill>
                  <a:srgbClr val="1E293B"/>
                </a:solidFill>
              </a:rPr>
              <a:t>Learns from verifier corrections dynamically without expensive model retraining.</a:t>
            </a:r>
          </a:p>
          <a:p>
            <a:pPr>
              <a:spcAft>
                <a:spcPts val="500"/>
              </a:spcAft>
              <a:defRPr b="1" sz="950">
                <a:solidFill>
                  <a:srgbClr val="047857"/>
                </a:solidFill>
              </a:defRPr>
            </a:pPr>
            <a:r>
              <a:t>✓ 8-Layer Land Stack (DILRMP 3.0): </a:t>
            </a:r>
            <a:r>
              <a:rPr b="0" sz="850">
                <a:solidFill>
                  <a:srgbClr val="1E293B"/>
                </a:solidFill>
              </a:rPr>
              <a:t>Unifies GIS, RoR, NGDRS, Bank Mortgages, and Courts under a 14-digit Bhu-Aadhaar.</a:t>
            </a:r>
          </a:p>
          <a:p>
            <a:pPr>
              <a:spcAft>
                <a:spcPts val="500"/>
              </a:spcAft>
              <a:defRPr b="1" sz="950">
                <a:solidFill>
                  <a:srgbClr val="047857"/>
                </a:solidFill>
              </a:defRPr>
            </a:pPr>
            <a:r>
              <a:t>✓ Zero High-End GPU Requirement: </a:t>
            </a:r>
            <a:r>
              <a:rPr b="0" sz="850">
                <a:solidFill>
                  <a:srgbClr val="1E293B"/>
                </a:solidFill>
              </a:rPr>
              <a:t>Optimized CPU pipeline runs on state data centers at negligible infrastructure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303520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D97706"/>
                </a:solidFill>
                <a:latin typeface="Trebuchet MS"/>
              </a:defRPr>
            </a:pPr>
            <a:r>
              <a:t>💻 LIVE DEMONSTRATION GUIDE FOR JUDGES</a:t>
            </a:r>
          </a:p>
          <a:p>
            <a:pPr>
              <a:spcAft>
                <a:spcPts val="6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Step 1: Ingestion: </a:t>
            </a:r>
            <a:r>
              <a:rPr b="0" sz="850">
                <a:solidFill>
                  <a:srgbClr val="FFFFFF"/>
                </a:solidFill>
                <a:latin typeface="Arial"/>
              </a:rPr>
              <a:t>Open /citizen -&gt; Login using OTP -&gt; Upload sample 7/12 scan.</a:t>
            </a:r>
          </a:p>
          <a:p>
            <a:pPr>
              <a:spcAft>
                <a:spcPts val="6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Step 2: AI Extraction: </a:t>
            </a:r>
            <a:r>
              <a:rPr b="0" sz="850">
                <a:solidFill>
                  <a:srgbClr val="FFFFFF"/>
                </a:solidFill>
                <a:latin typeface="Arial"/>
              </a:rPr>
              <a:t>FastAPI microservice executes CLAHE boost, EasyOCR, and Cadastral NER.</a:t>
            </a:r>
          </a:p>
          <a:p>
            <a:pPr>
              <a:spcAft>
                <a:spcPts val="6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Step 3: Verifier Queue: </a:t>
            </a:r>
            <a:r>
              <a:rPr b="0" sz="850">
                <a:solidFill>
                  <a:srgbClr val="FFFFFF"/>
                </a:solidFill>
                <a:latin typeface="Arial"/>
              </a:rPr>
              <a:t>Login as verifier1@landrecord.gov.in -&gt; Review scan vs extracted fields -&gt; Sign DSC-VER.</a:t>
            </a:r>
          </a:p>
          <a:p>
            <a:pPr>
              <a:spcAft>
                <a:spcPts val="6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Step 4: Officer Sanction: </a:t>
            </a:r>
            <a:r>
              <a:rPr b="0" sz="850">
                <a:solidFill>
                  <a:srgbClr val="FFFFFF"/>
                </a:solidFill>
                <a:latin typeface="Arial"/>
              </a:rPr>
              <a:t>Login as officer1@landrecord.gov.in -&gt; Grant statutory approval DSC-OFF.</a:t>
            </a:r>
          </a:p>
          <a:p>
            <a:pPr>
              <a:spcAft>
                <a:spcPts val="6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Step 5: Public QR Verify: </a:t>
            </a:r>
            <a:r>
              <a:rPr b="0" sz="850">
                <a:solidFill>
                  <a:srgbClr val="FFFFFF"/>
                </a:solidFill>
                <a:latin typeface="Arial"/>
              </a:rPr>
              <a:t>Open /verify-document -&gt; Scan QR code -&gt; Enter Secret PIN -&gt; View Tier 2 Authenticated Result!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Technical Approach &amp; Engineering Deep-Dive •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8 of 8 | SIH Technical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