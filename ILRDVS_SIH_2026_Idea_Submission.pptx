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   SMART INDIA HACKATHON 2026</a:t>
            </a:r>
          </a:p>
          <a:p>
            <a:pPr>
              <a:defRPr sz="1200">
                <a:solidFill>
                  <a:srgbClr val="E2E8F0"/>
                </a:solidFill>
                <a:latin typeface="Arial"/>
              </a:defRPr>
            </a:pPr>
            <a:r>
              <a:t>     National Innovation &amp; Digital Governance Initiative • Idea Submission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2179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  <a:latin typeface="Trebuchet MS"/>
              </a:rPr>
              <a:t>• Problem Statement ID: </a:t>
            </a:r>
            <a:r>
              <a:rPr b="0" sz="1300">
                <a:solidFill>
                  <a:srgbClr val="1E293B"/>
                </a:solidFill>
                <a:latin typeface="Arial"/>
              </a:rPr>
              <a:t>SIH26-GOV-LAND-042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  <a:latin typeface="Trebuchet MS"/>
              </a:rPr>
              <a:t>• Problem Statement Title: </a:t>
            </a:r>
            <a:r>
              <a:rPr b="0" sz="1300">
                <a:solidFill>
                  <a:srgbClr val="1E293B"/>
                </a:solidFill>
                <a:latin typeface="Arial"/>
              </a:rPr>
              <a:t>AI-Driven Digitization, Cadastral Extraction &amp; Multi-Layer Validation of Historical Land Records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  <a:latin typeface="Trebuchet MS"/>
              </a:rPr>
              <a:t>• Theme: </a:t>
            </a:r>
            <a:r>
              <a:rPr b="0" sz="1300">
                <a:solidFill>
                  <a:srgbClr val="1E293B"/>
                </a:solidFill>
                <a:latin typeface="Arial"/>
              </a:rPr>
              <a:t>Smart Governance / Digital Public Infrastructure (DPI)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  <a:latin typeface="Trebuchet MS"/>
              </a:rPr>
              <a:t>• PS Category: </a:t>
            </a:r>
            <a:r>
              <a:rPr b="0" sz="1300">
                <a:solidFill>
                  <a:srgbClr val="1E293B"/>
                </a:solidFill>
                <a:latin typeface="Arial"/>
              </a:rPr>
              <a:t>Software / Enterprise Digital Governance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  <a:latin typeface="Trebuchet MS"/>
              </a:rPr>
              <a:t>• Team ID: </a:t>
            </a:r>
            <a:r>
              <a:rPr b="0" sz="1300">
                <a:solidFill>
                  <a:srgbClr val="1E293B"/>
                </a:solidFill>
                <a:latin typeface="Arial"/>
              </a:rPr>
              <a:t>TEAM-ILRDVS-2026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  <a:latin typeface="Trebuchet MS"/>
              </a:rPr>
              <a:t>• Team Name: </a:t>
            </a:r>
            <a:r>
              <a:rPr b="0" sz="1300">
                <a:solidFill>
                  <a:srgbClr val="1E293B"/>
                </a:solidFill>
                <a:latin typeface="Arial"/>
              </a:rPr>
              <a:t>GeoTrust Innovators (ILRDVS)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63040"/>
            <a:ext cx="429768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65760"/>
          <a:lstStyle/>
          <a:p>
            <a:pPr algn="ctr">
              <a:defRPr b="1" sz="2600">
                <a:solidFill>
                  <a:srgbClr val="D97706"/>
                </a:solidFill>
                <a:latin typeface="Trebuchet MS"/>
              </a:defRPr>
            </a:pPr>
            <a:r>
              <a:t>PROJECT ILRDVS</a:t>
            </a:r>
          </a:p>
          <a:p>
            <a:pPr algn="ctr">
              <a:spcAft>
                <a:spcPts val="18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Intelligent Land Record Digitization &amp; Validation System</a:t>
            </a:r>
          </a:p>
          <a:p>
            <a:pPr algn="ctr">
              <a:spcAft>
                <a:spcPts val="1600"/>
              </a:spcAft>
              <a:defRPr sz="1000" b="1">
                <a:solidFill>
                  <a:srgbClr val="34D399"/>
                </a:solidFill>
                <a:latin typeface="Arial"/>
              </a:defRPr>
            </a:pPr>
            <a:r>
              <a:t>🏛️ DILRMP 3.0 Standard • 14-Digit Bhu-Aadhaar (ULPIN)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  <a:latin typeface="Arial"/>
              </a:defRPr>
            </a:pPr>
            <a:r>
              <a:t>✓  Multi-Pass Self-Correcting OCR (CLAHE + Rotation)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  <a:latin typeface="Arial"/>
              </a:defRPr>
            </a:pPr>
            <a:r>
              <a:t>✓  Specialized Cadastral Named Entity Recognition (NER)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  <a:latin typeface="Arial"/>
              </a:defRPr>
            </a:pPr>
            <a:r>
              <a:t>✓  Dual-Factor Physical Sticker PIN &amp; 2D QR Verification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  <a:latin typeface="Arial"/>
              </a:defRPr>
            </a:pPr>
            <a:r>
              <a:t>✓  Statutory Dual-Signature HITL Workstation (DSC-OFF)</a:t>
            </a:r>
          </a:p>
          <a:p>
            <a:pPr>
              <a:spcAft>
                <a:spcPts val="600"/>
              </a:spcAft>
              <a:defRPr sz="1050">
                <a:solidFill>
                  <a:srgbClr val="F1F5F9"/>
                </a:solidFill>
                <a:latin typeface="Arial"/>
              </a:defRPr>
            </a:pPr>
            <a:r>
              <a:t>✓  Unified 8-Layer Land Stack (GIS + RoR + Courts + Banks)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ILRDVS • AI-Powered Intelligent Land Record Digitization &amp; Validation System • DILRMP 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56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1 of 7 | SIH Idea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  PROBLEM STATEMENT &amp; PROPOSED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164592"/>
            <a:ext cx="2926080" cy="47548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INNOVATION &amp;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4747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200"/>
              </a:spcAft>
              <a:defRPr b="1" sz="1500">
                <a:solidFill>
                  <a:srgbClr val="B91C1C"/>
                </a:solidFill>
                <a:latin typeface="Trebuchet MS"/>
              </a:defRPr>
            </a:pPr>
            <a:r>
              <a:t>⚠️ THE LAND-RECORD CRISIS</a:t>
            </a:r>
          </a:p>
          <a:p>
            <a:pPr>
              <a:defRPr b="1" sz="1100">
                <a:solidFill>
                  <a:srgbClr val="0F172A"/>
                </a:solidFill>
                <a:latin typeface="Trebuchet MS"/>
              </a:defRPr>
            </a:pPr>
            <a:r>
              <a:t>• Archival Degradation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Millions of 50+ year-old paper records (7/12 Satbara, Ferfar, Sale Deeds) suffer from faded Devanagari script, bleeding blue ink, and physical decay.</a:t>
            </a:r>
          </a:p>
          <a:p>
            <a:pPr>
              <a:defRPr b="1" sz="1100">
                <a:solidFill>
                  <a:srgbClr val="0F172A"/>
                </a:solidFill>
                <a:latin typeface="Trebuchet MS"/>
              </a:defRPr>
            </a:pPr>
            <a:r>
              <a:t>• Institutional Silos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Revenue offices, Sub-Registrars (SRO), Land Surveyors, Banks, and Courts operate independently—creating duplicate title claims and lending fraud.</a:t>
            </a:r>
          </a:p>
          <a:p>
            <a:pPr>
              <a:defRPr b="1" sz="1100">
                <a:solidFill>
                  <a:srgbClr val="0F172A"/>
                </a:solidFill>
                <a:latin typeface="Trebuchet MS"/>
              </a:defRPr>
            </a:pPr>
            <a:r>
              <a:t>• Physical-Digital Verification Gap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Digital portals cannot stop fraudsters from presenting forged paper photocopies to local tehsils and banks.</a:t>
            </a:r>
          </a:p>
          <a:p>
            <a:pPr>
              <a:defRPr b="1" sz="1100">
                <a:solidFill>
                  <a:srgbClr val="0F172A"/>
                </a:solidFill>
                <a:latin typeface="Trebuchet MS"/>
              </a:defRPr>
            </a:pPr>
            <a:r>
              <a:t>• Manual Backlogs &amp; Bribery</a:t>
            </a:r>
          </a:p>
          <a:p>
            <a:pPr>
              <a:spcAft>
                <a:spcPts val="8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Citizens face delays of 30-90 days for basic mutation (Ferfar) and ownership title clearances.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931920" cy="51206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b="1" sz="1500">
                <a:solidFill>
                  <a:srgbClr val="1E3A8A"/>
                </a:solidFill>
                <a:latin typeface="Trebuchet MS"/>
              </a:defRPr>
            </a:pPr>
            <a:r>
              <a:t>💡 OUR UNIFIED SOLUTION</a:t>
            </a:r>
          </a:p>
          <a:p>
            <a:pPr>
              <a:defRPr b="1" sz="1100">
                <a:solidFill>
                  <a:srgbClr val="0F172A"/>
                </a:solidFill>
                <a:latin typeface="Trebuchet MS"/>
              </a:defRPr>
            </a:pPr>
            <a:r>
              <a:t>▶ 1. Multi-Pass Adaptive OCR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OpenCV CLAHE contrast boosting + EasyOCR recovers faint stamps and folded paper.</a:t>
            </a:r>
          </a:p>
          <a:p>
            <a:pPr>
              <a:defRPr b="1" sz="1100">
                <a:solidFill>
                  <a:srgbClr val="0F172A"/>
                </a:solidFill>
                <a:latin typeface="Trebuchet MS"/>
              </a:defRPr>
            </a:pPr>
            <a:r>
              <a:t>▶ 2. Cadastral Entity NER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Custom multilingual NER extracts Owner Name, Survey/Gat #, Area (Ha/Acre), Village, and Khata.</a:t>
            </a:r>
          </a:p>
          <a:p>
            <a:pPr>
              <a:defRPr b="1" sz="1100">
                <a:solidFill>
                  <a:srgbClr val="0F172A"/>
                </a:solidFill>
                <a:latin typeface="Trebuchet MS"/>
              </a:defRPr>
            </a:pPr>
            <a:r>
              <a:t>▶ 3. Human-in-the-Loop Workstation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Dual-pane review with confidence gauges and Verifier/Officer digital signatures (DSC-OFF).</a:t>
            </a:r>
          </a:p>
          <a:p>
            <a:pPr>
              <a:defRPr b="1" sz="1100">
                <a:solidFill>
                  <a:srgbClr val="0F172A"/>
                </a:solidFill>
                <a:latin typeface="Trebuchet MS"/>
              </a:defRPr>
            </a:pPr>
            <a:r>
              <a:t>▶ 4. The 8-Layer Land Stack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Unifies GIS vector parcels, RoR ownership, bank mortgages (CERSAI), and court dispute stays under 14-digit ULPIN.</a:t>
            </a:r>
          </a:p>
          <a:p>
            <a:pPr>
              <a:defRPr b="1" sz="1100">
                <a:solidFill>
                  <a:srgbClr val="0F172A"/>
                </a:solidFill>
                <a:latin typeface="Trebuchet MS"/>
              </a:defRPr>
            </a:pPr>
            <a:r>
              <a:t>▶ 5. Dual-Factor QR Authentication</a:t>
            </a:r>
          </a:p>
          <a:p>
            <a:pPr>
              <a:spcAft>
                <a:spcPts val="600"/>
              </a:spcAft>
              <a:defRPr sz="950">
                <a:solidFill>
                  <a:srgbClr val="1E293B"/>
                </a:solidFill>
                <a:latin typeface="Arial"/>
              </a:defRPr>
            </a:pPr>
            <a:r>
              <a:t>Physical adhesive sticker PIN (SEC-XXXX-YYYY) cryptographically linked to cloud scan SHA-256 hash.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097280"/>
            <a:ext cx="3291840" cy="51206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000"/>
              </a:spcAft>
              <a:defRPr b="1" sz="1500">
                <a:solidFill>
                  <a:srgbClr val="047857"/>
                </a:solidFill>
                <a:latin typeface="Trebuchet MS"/>
              </a:defRPr>
            </a:pPr>
            <a:r>
              <a:t>⭐ KEY NOVELTY &amp; EDGE</a:t>
            </a:r>
          </a:p>
          <a:p>
            <a:pPr>
              <a:defRPr b="1" sz="1050">
                <a:solidFill>
                  <a:srgbClr val="047857"/>
                </a:solidFill>
                <a:latin typeface="Trebuchet MS"/>
              </a:defRPr>
            </a:pPr>
            <a:r>
              <a:t>★ DILRMP 3.0 Operational Alignment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First system mapping 8 distinct governmental layers to the 14-digit Bhu-Aadhaar (ULPIN).</a:t>
            </a:r>
          </a:p>
          <a:p>
            <a:pPr>
              <a:defRPr b="1" sz="1050">
                <a:solidFill>
                  <a:srgbClr val="047857"/>
                </a:solidFill>
                <a:latin typeface="Trebuchet MS"/>
              </a:defRPr>
            </a:pPr>
            <a:r>
              <a:t>★ Active Self-Correcting Feedback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Continuous learning loop: corrections made in workstation dynamically train synonym dictionaries in real-time.</a:t>
            </a:r>
          </a:p>
          <a:p>
            <a:pPr>
              <a:defRPr b="1" sz="1050">
                <a:solidFill>
                  <a:srgbClr val="047857"/>
                </a:solidFill>
                <a:latin typeface="Trebuchet MS"/>
              </a:defRPr>
            </a:pPr>
            <a:r>
              <a:t>★ Tamper-Proof Physical Seal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Solves the 'offline fake paper' loophole via physical secret security PINs.</a:t>
            </a:r>
          </a:p>
          <a:p>
            <a:pPr>
              <a:defRPr b="1" sz="1050">
                <a:solidFill>
                  <a:srgbClr val="047857"/>
                </a:solidFill>
                <a:latin typeface="Trebuchet MS"/>
              </a:defRPr>
            </a:pPr>
            <a:r>
              <a:t>★ Real DLT SMS &amp; HMAC Email OTP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Zero-plaintext cryptographic authentication with explicit legal distinction (Phone ≠ Title).</a:t>
            </a:r>
          </a:p>
          <a:p>
            <a:pPr>
              <a:defRPr b="1" sz="1050">
                <a:solidFill>
                  <a:srgbClr val="047857"/>
                </a:solidFill>
                <a:latin typeface="Trebuchet MS"/>
              </a:defRPr>
            </a:pPr>
            <a:r>
              <a:t>★ Vernacular &amp; GIGW Accessible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Full Marathi/Hindi support + WCAG 2.1 screen-reader mode for rural inclusivity.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ILRDVS • AI-Powered Intelligent Land Record Digitization &amp; Validation System • DILRMP 3.0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2956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2 of 7 | SIH Idea Submission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  TECHNICAL APPROACH: SYSTEM ARCHITECTURE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164592"/>
            <a:ext cx="2926080" cy="47548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INTEROPERABLE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24128"/>
            <a:ext cx="3108960" cy="1143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  <a:defRPr b="1" sz="950">
                <a:solidFill>
                  <a:srgbClr val="93C5FD"/>
                </a:solidFill>
                <a:latin typeface="Trebuchet MS"/>
              </a:defRPr>
            </a:pPr>
            <a:r>
              <a:t>1. CLIENT PORTALS (Next.js 14)</a:t>
            </a:r>
          </a:p>
          <a:p>
            <a:pPr>
              <a:spcAft>
                <a:spcPts val="200"/>
              </a:spcAft>
              <a:defRPr sz="750">
                <a:solidFill>
                  <a:srgbClr val="E2E8F0"/>
                </a:solidFill>
                <a:latin typeface="Arial"/>
              </a:defRPr>
            </a:pPr>
            <a:r>
              <a:t>• /citizen Portal &amp; Mutation Tracking</a:t>
            </a:r>
          </a:p>
          <a:p>
            <a:pPr>
              <a:spcAft>
                <a:spcPts val="200"/>
              </a:spcAft>
              <a:defRPr sz="750">
                <a:solidFill>
                  <a:srgbClr val="E2E8F0"/>
                </a:solidFill>
                <a:latin typeface="Arial"/>
              </a:defRPr>
            </a:pPr>
            <a:r>
              <a:t>• /verification Dual-Pane Workstation</a:t>
            </a:r>
          </a:p>
          <a:p>
            <a:pPr>
              <a:spcAft>
                <a:spcPts val="200"/>
              </a:spcAft>
              <a:defRPr sz="750">
                <a:solidFill>
                  <a:srgbClr val="E2E8F0"/>
                </a:solidFill>
                <a:latin typeface="Arial"/>
              </a:defRPr>
            </a:pPr>
            <a:r>
              <a:t>• /officer Portal &amp; /verify-document QR</a:t>
            </a:r>
          </a:p>
          <a:p>
            <a:pPr>
              <a:spcAft>
                <a:spcPts val="200"/>
              </a:spcAft>
              <a:defRPr sz="750">
                <a:solidFill>
                  <a:srgbClr val="E2E8F0"/>
                </a:solidFill>
                <a:latin typeface="Arial"/>
              </a:defRPr>
            </a:pPr>
            <a:r>
              <a:t>• GIGW Screen-Reader (Marathi/Hindi/Eng)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639312" y="1481328"/>
            <a:ext cx="292608" cy="201168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05072" y="1024128"/>
            <a:ext cx="3931920" cy="1143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  <a:defRPr b="1" sz="950">
                <a:solidFill>
                  <a:srgbClr val="6EE7B7"/>
                </a:solidFill>
                <a:latin typeface="Trebuchet MS"/>
              </a:defRPr>
            </a:pPr>
            <a:r>
              <a:t>2. API GATEWAY &amp; SECURITY (Node.js/Express)</a:t>
            </a:r>
          </a:p>
          <a:p>
            <a:pPr>
              <a:spcAft>
                <a:spcPts val="200"/>
              </a:spcAft>
              <a:defRPr sz="750">
                <a:solidFill>
                  <a:srgbClr val="E2E8F0"/>
                </a:solidFill>
                <a:latin typeface="Arial"/>
              </a:defRPr>
            </a:pPr>
            <a:r>
              <a:t>• RBAC Route Guards (Admin / Officer / Verifier / Citizen)</a:t>
            </a:r>
          </a:p>
          <a:p>
            <a:pPr>
              <a:spcAft>
                <a:spcPts val="200"/>
              </a:spcAft>
              <a:defRPr sz="750">
                <a:solidFill>
                  <a:srgbClr val="E2E8F0"/>
                </a:solidFill>
                <a:latin typeface="Arial"/>
              </a:defRPr>
            </a:pPr>
            <a:r>
              <a:t>• Dual OTP: TRAI DLT MSG91 SMS + HMAC Email</a:t>
            </a:r>
          </a:p>
          <a:p>
            <a:pPr>
              <a:spcAft>
                <a:spcPts val="200"/>
              </a:spcAft>
              <a:defRPr sz="750">
                <a:solidFill>
                  <a:srgbClr val="E2E8F0"/>
                </a:solidFill>
                <a:latin typeface="Arial"/>
              </a:defRPr>
            </a:pPr>
            <a:r>
              <a:t>• Zod Request Validation &amp; Sanitization Layer</a:t>
            </a:r>
          </a:p>
          <a:p>
            <a:pPr>
              <a:spcAft>
                <a:spcPts val="200"/>
              </a:spcAft>
              <a:defRPr sz="750">
                <a:solidFill>
                  <a:srgbClr val="E2E8F0"/>
                </a:solidFill>
                <a:latin typeface="Arial"/>
              </a:defRPr>
            </a:pPr>
            <a:r>
              <a:t>• Multer Document Storage Engine + SHA-256 Hashes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010144" y="1481328"/>
            <a:ext cx="292608" cy="201168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75904" y="1024128"/>
            <a:ext cx="3337560" cy="1143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  <a:defRPr b="1" sz="950">
                <a:solidFill>
                  <a:srgbClr val="FCD34D"/>
                </a:solidFill>
                <a:latin typeface="Trebuchet MS"/>
              </a:defRPr>
            </a:pPr>
            <a:r>
              <a:t>3. DATA PERSISTENCE (MongoDB 8)</a:t>
            </a:r>
          </a:p>
          <a:p>
            <a:pPr>
              <a:spcAft>
                <a:spcPts val="200"/>
              </a:spcAft>
              <a:defRPr sz="750">
                <a:solidFill>
                  <a:srgbClr val="E2E8F0"/>
                </a:solidFill>
                <a:latin typeface="Arial"/>
              </a:defRPr>
            </a:pPr>
            <a:r>
              <a:t>• LandRecords (Compound-Indexed on ULPIN)</a:t>
            </a:r>
          </a:p>
          <a:p>
            <a:pPr>
              <a:spcAft>
                <a:spcPts val="200"/>
              </a:spcAft>
              <a:defRPr sz="750">
                <a:solidFill>
                  <a:srgbClr val="E2E8F0"/>
                </a:solidFill>
                <a:latin typeface="Arial"/>
              </a:defRPr>
            </a:pPr>
            <a:r>
              <a:t>• Immutable AuditLog (RTI &amp; Legal Trail)</a:t>
            </a:r>
          </a:p>
          <a:p>
            <a:pPr>
              <a:spcAft>
                <a:spcPts val="200"/>
              </a:spcAft>
              <a:defRPr sz="750">
                <a:solidFill>
                  <a:srgbClr val="E2E8F0"/>
                </a:solidFill>
                <a:latin typeface="Arial"/>
              </a:defRPr>
            </a:pPr>
            <a:r>
              <a:t>• Document Vault (MIME &amp; Hash Storage)</a:t>
            </a:r>
          </a:p>
          <a:p>
            <a:pPr>
              <a:spcAft>
                <a:spcPts val="200"/>
              </a:spcAft>
              <a:defRPr sz="750">
                <a:solidFill>
                  <a:srgbClr val="E2E8F0"/>
                </a:solidFill>
                <a:latin typeface="Arial"/>
              </a:defRPr>
            </a:pPr>
            <a:r>
              <a:t>• OTP Sessions (Automated TTL Pruning)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06440" y="2203704"/>
            <a:ext cx="237744" cy="219456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2468880"/>
            <a:ext cx="11256264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lIns="137160"/>
          <a:lstStyle/>
          <a:p>
            <a:pPr algn="ctr">
              <a:defRPr b="1" sz="1000">
                <a:solidFill>
                  <a:srgbClr val="34D399"/>
                </a:solidFill>
                <a:latin typeface="Trebuchet MS"/>
              </a:defRPr>
            </a:pPr>
            <a:r>
              <a:t>4. ADAPTIVE SELF-CORRECTING AI PIPELINE (Python FastAPI + EasyOCR + OpenCV)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761488"/>
            <a:ext cx="246888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  <a:defRPr b="1" sz="850">
                <a:solidFill>
                  <a:srgbClr val="FFFFFF"/>
                </a:solidFill>
                <a:latin typeface="Trebuchet MS"/>
              </a:defRPr>
            </a:pPr>
            <a:r>
              <a:t>A. OpenCV Preprocessing</a:t>
            </a:r>
          </a:p>
          <a:p>
            <a:pPr>
              <a:spcAft>
                <a:spcPts val="200"/>
              </a:spcAft>
              <a:defRPr sz="700">
                <a:solidFill>
                  <a:srgbClr val="E2E8F0"/>
                </a:solidFill>
                <a:latin typeface="Arial"/>
              </a:defRPr>
            </a:pPr>
            <a:r>
              <a:t>• Deskewing &amp; Denoising</a:t>
            </a:r>
          </a:p>
          <a:p>
            <a:pPr>
              <a:spcAft>
                <a:spcPts val="200"/>
              </a:spcAft>
              <a:defRPr sz="700">
                <a:solidFill>
                  <a:srgbClr val="E2E8F0"/>
                </a:solidFill>
                <a:latin typeface="Arial"/>
              </a:defRPr>
            </a:pPr>
            <a:r>
              <a:t>• CLAHE 3.5 Contrast Boost</a:t>
            </a:r>
          </a:p>
          <a:p>
            <a:pPr>
              <a:spcAft>
                <a:spcPts val="200"/>
              </a:spcAft>
              <a:defRPr sz="700">
                <a:solidFill>
                  <a:srgbClr val="E2E8F0"/>
                </a:solidFill>
                <a:latin typeface="Arial"/>
              </a:defRPr>
            </a:pPr>
            <a:r>
              <a:t>• 90°/180°/270° Orientation Fix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27248" y="3154680"/>
            <a:ext cx="201168" cy="164592"/>
          </a:xfrm>
          <a:prstGeom prst="right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01568" y="2761488"/>
            <a:ext cx="242316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  <a:defRPr b="1" sz="850">
                <a:solidFill>
                  <a:srgbClr val="FFFFFF"/>
                </a:solidFill>
                <a:latin typeface="Trebuchet MS"/>
              </a:defRPr>
            </a:pPr>
            <a:r>
              <a:t>B. Multilingual OCR</a:t>
            </a:r>
          </a:p>
          <a:p>
            <a:pPr>
              <a:spcAft>
                <a:spcPts val="200"/>
              </a:spcAft>
              <a:defRPr sz="700">
                <a:solidFill>
                  <a:srgbClr val="E2E8F0"/>
                </a:solidFill>
                <a:latin typeface="Arial"/>
              </a:defRPr>
            </a:pPr>
            <a:r>
              <a:t>• EasyOCR + Tesseract Engine</a:t>
            </a:r>
          </a:p>
          <a:p>
            <a:pPr>
              <a:spcAft>
                <a:spcPts val="200"/>
              </a:spcAft>
              <a:defRPr sz="700">
                <a:solidFill>
                  <a:srgbClr val="E2E8F0"/>
                </a:solidFill>
                <a:latin typeface="Arial"/>
              </a:defRPr>
            </a:pPr>
            <a:r>
              <a:t>• Devanagari (Marathi/Hindi)</a:t>
            </a:r>
          </a:p>
          <a:p>
            <a:pPr>
              <a:spcAft>
                <a:spcPts val="200"/>
              </a:spcAft>
              <a:defRPr sz="700">
                <a:solidFill>
                  <a:srgbClr val="E2E8F0"/>
                </a:solidFill>
                <a:latin typeface="Arial"/>
              </a:defRPr>
            </a:pPr>
            <a:r>
              <a:t>• Latin / English Cadastral Text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88736" y="3154680"/>
            <a:ext cx="201168" cy="164592"/>
          </a:xfrm>
          <a:prstGeom prst="right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63056" y="2761488"/>
            <a:ext cx="25146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  <a:defRPr b="1" sz="850">
                <a:solidFill>
                  <a:srgbClr val="FFFFFF"/>
                </a:solidFill>
                <a:latin typeface="Trebuchet MS"/>
              </a:defRPr>
            </a:pPr>
            <a:r>
              <a:t>C. Cadastral Entity NER</a:t>
            </a:r>
          </a:p>
          <a:p>
            <a:pPr>
              <a:spcAft>
                <a:spcPts val="200"/>
              </a:spcAft>
              <a:defRPr sz="700">
                <a:solidFill>
                  <a:srgbClr val="E2E8F0"/>
                </a:solidFill>
                <a:latin typeface="Arial"/>
              </a:defRPr>
            </a:pPr>
            <a:r>
              <a:t>• Extracts Owner &amp; Khata #</a:t>
            </a:r>
          </a:p>
          <a:p>
            <a:pPr>
              <a:spcAft>
                <a:spcPts val="200"/>
              </a:spcAft>
              <a:defRPr sz="700">
                <a:solidFill>
                  <a:srgbClr val="E2E8F0"/>
                </a:solidFill>
                <a:latin typeface="Arial"/>
              </a:defRPr>
            </a:pPr>
            <a:r>
              <a:t>• Survey / Gat Plot Numbers</a:t>
            </a:r>
          </a:p>
          <a:p>
            <a:pPr>
              <a:spcAft>
                <a:spcPts val="200"/>
              </a:spcAft>
              <a:defRPr sz="700">
                <a:solidFill>
                  <a:srgbClr val="E2E8F0"/>
                </a:solidFill>
                <a:latin typeface="Arial"/>
              </a:defRPr>
            </a:pPr>
            <a:r>
              <a:t>• Area (Hectares / Acres / R)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41664" y="3154680"/>
            <a:ext cx="201168" cy="164592"/>
          </a:xfrm>
          <a:prstGeom prst="right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15984" y="2761488"/>
            <a:ext cx="256032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  <a:defRPr b="1" sz="850">
                <a:solidFill>
                  <a:srgbClr val="FCD34D"/>
                </a:solidFill>
                <a:latin typeface="Trebuchet MS"/>
              </a:defRPr>
            </a:pPr>
            <a:r>
              <a:t>D. Diagnosis &amp; Feedback</a:t>
            </a:r>
          </a:p>
          <a:p>
            <a:pPr>
              <a:spcAft>
                <a:spcPts val="200"/>
              </a:spcAft>
              <a:defRPr sz="700">
                <a:solidFill>
                  <a:srgbClr val="E2E8F0"/>
                </a:solidFill>
                <a:latin typeface="Arial"/>
              </a:defRPr>
            </a:pPr>
            <a:r>
              <a:t>• Multi-Pass Consensus Merge</a:t>
            </a:r>
          </a:p>
          <a:p>
            <a:pPr>
              <a:spcAft>
                <a:spcPts val="200"/>
              </a:spcAft>
              <a:defRPr sz="700">
                <a:solidFill>
                  <a:srgbClr val="E2E8F0"/>
                </a:solidFill>
                <a:latin typeface="Arial"/>
              </a:defRPr>
            </a:pPr>
            <a:r>
              <a:t>• Missing Core Entities Auto-Shift</a:t>
            </a:r>
          </a:p>
          <a:p>
            <a:pPr>
              <a:spcAft>
                <a:spcPts val="200"/>
              </a:spcAft>
              <a:defRPr sz="700">
                <a:solidFill>
                  <a:srgbClr val="E2E8F0"/>
                </a:solidFill>
                <a:latin typeface="Arial"/>
              </a:defRPr>
            </a:pPr>
            <a:r>
              <a:t>• Active Learning Synonym Loop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806440" y="3886200"/>
            <a:ext cx="237744" cy="201168"/>
          </a:xfrm>
          <a:prstGeom prst="down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4133087"/>
            <a:ext cx="3520440" cy="1143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  <a:defRPr b="1" sz="950">
                <a:solidFill>
                  <a:srgbClr val="93C5FD"/>
                </a:solidFill>
                <a:latin typeface="Trebuchet MS"/>
              </a:defRPr>
            </a:pPr>
            <a:r>
              <a:t>5. STATUTORY HITL WORKSTATION</a:t>
            </a:r>
          </a:p>
          <a:p>
            <a:pPr>
              <a:spcAft>
                <a:spcPts val="200"/>
              </a:spcAft>
              <a:defRPr sz="750">
                <a:solidFill>
                  <a:srgbClr val="E2E8F0"/>
                </a:solidFill>
                <a:latin typeface="Arial"/>
              </a:defRPr>
            </a:pPr>
            <a:r>
              <a:t>• Dual-Pane: Original Scan vs Extracted Fields</a:t>
            </a:r>
          </a:p>
          <a:p>
            <a:pPr>
              <a:spcAft>
                <a:spcPts val="200"/>
              </a:spcAft>
              <a:defRPr sz="750">
                <a:solidFill>
                  <a:srgbClr val="E2E8F0"/>
                </a:solidFill>
                <a:latin typeface="Arial"/>
              </a:defRPr>
            </a:pPr>
            <a:r>
              <a:t>• Field-Level Confidence Gauges &amp; Red Flags</a:t>
            </a:r>
          </a:p>
          <a:p>
            <a:pPr>
              <a:spcAft>
                <a:spcPts val="200"/>
              </a:spcAft>
              <a:defRPr sz="750">
                <a:solidFill>
                  <a:srgbClr val="E2E8F0"/>
                </a:solidFill>
                <a:latin typeface="Arial"/>
              </a:defRPr>
            </a:pPr>
            <a:r>
              <a:t>• Verifier Digital Signature (DSC-VER) Queue</a:t>
            </a:r>
          </a:p>
          <a:p>
            <a:pPr>
              <a:spcAft>
                <a:spcPts val="200"/>
              </a:spcAft>
              <a:defRPr sz="750">
                <a:solidFill>
                  <a:srgbClr val="E2E8F0"/>
                </a:solidFill>
                <a:latin typeface="Arial"/>
              </a:defRPr>
            </a:pPr>
            <a:r>
              <a:t>• Revenue Officer Statutory Sanction (DSC-OFF)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69080" y="4617720"/>
            <a:ext cx="292608" cy="201168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34840" y="4133087"/>
            <a:ext cx="7278624" cy="1143000"/>
          </a:xfrm>
          <a:prstGeom prst="roundRect">
            <a:avLst/>
          </a:prstGeom>
          <a:solidFill>
            <a:srgbClr val="1E1B4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lIns="137160"/>
          <a:lstStyle/>
          <a:p>
            <a:pPr algn="ctr">
              <a:defRPr b="1" sz="1000">
                <a:solidFill>
                  <a:srgbClr val="C4B5FD"/>
                </a:solidFill>
                <a:latin typeface="Trebuchet MS"/>
              </a:defRPr>
            </a:pPr>
            <a:r>
              <a:t>6. UNIFIED 8-LAYER LAND STACK (DILRMP 3.0 • 14-Digit Bhu-Aadhaar ULPIN)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3712" y="4407408"/>
            <a:ext cx="1719072" cy="347472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9144" lIns="36576" rIns="36576"/>
          <a:lstStyle/>
          <a:p>
            <a:pPr algn="ctr">
              <a:defRPr sz="680" b="1">
                <a:solidFill>
                  <a:srgbClr val="E0E7FF"/>
                </a:solidFill>
                <a:latin typeface="Arial"/>
              </a:defRPr>
            </a:pPr>
            <a:r>
              <a:t>L1: Vector Map: WGS-84 Polygons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7648" y="4407408"/>
            <a:ext cx="1719072" cy="347472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9144" lIns="36576" rIns="36576"/>
          <a:lstStyle/>
          <a:p>
            <a:pPr algn="ctr">
              <a:defRPr sz="680" b="1">
                <a:solidFill>
                  <a:srgbClr val="E0E7FF"/>
                </a:solidFill>
                <a:latin typeface="Arial"/>
              </a:defRPr>
            </a:pPr>
            <a:r>
              <a:t>L2: RoR 7/12 &amp; 8A: Ownership Titles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4407408"/>
            <a:ext cx="1719072" cy="347472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9144" lIns="36576" rIns="36576"/>
          <a:lstStyle/>
          <a:p>
            <a:pPr algn="ctr">
              <a:defRPr sz="680" b="1">
                <a:solidFill>
                  <a:srgbClr val="E0E7FF"/>
                </a:solidFill>
                <a:latin typeface="Arial"/>
              </a:defRPr>
            </a:pPr>
            <a:r>
              <a:t>L3: Conveyance: NGDRS e-Deeds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20" y="4407408"/>
            <a:ext cx="1719072" cy="347472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9144" lIns="36576" rIns="36576"/>
          <a:lstStyle/>
          <a:p>
            <a:pPr algn="ctr">
              <a:defRPr sz="680" b="1">
                <a:solidFill>
                  <a:srgbClr val="E0E7FF"/>
                </a:solidFill>
                <a:latin typeface="Arial"/>
              </a:defRPr>
            </a:pPr>
            <a:r>
              <a:t>L4: Master Zoning: Residential/Agri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53712" y="4791456"/>
            <a:ext cx="1719072" cy="347472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9144" lIns="36576" rIns="36576"/>
          <a:lstStyle/>
          <a:p>
            <a:pPr algn="ctr">
              <a:defRPr sz="680" b="1">
                <a:solidFill>
                  <a:srgbClr val="E0E7FF"/>
                </a:solidFill>
                <a:latin typeface="Arial"/>
              </a:defRPr>
            </a:pPr>
            <a:r>
              <a:t>L5: Circle Rate: Auto Valuation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27648" y="4791456"/>
            <a:ext cx="1719072" cy="347472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9144" lIns="36576" rIns="36576"/>
          <a:lstStyle/>
          <a:p>
            <a:pPr algn="ctr">
              <a:defRPr sz="680" b="1">
                <a:solidFill>
                  <a:srgbClr val="E0E7FF"/>
                </a:solidFill>
                <a:latin typeface="Arial"/>
              </a:defRPr>
            </a:pPr>
            <a:r>
              <a:t>L6: Mortgages: CERSAI Bank Sync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3" y="4791456"/>
            <a:ext cx="1719072" cy="347472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9144" lIns="36576" rIns="36576"/>
          <a:lstStyle/>
          <a:p>
            <a:pPr algn="ctr">
              <a:defRPr sz="680" b="1">
                <a:solidFill>
                  <a:srgbClr val="E0E7FF"/>
                </a:solidFill>
                <a:latin typeface="Arial"/>
              </a:defRPr>
            </a:pPr>
            <a:r>
              <a:t>L7: Court Disputes: NJDG Stay Freeze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0" y="4791456"/>
            <a:ext cx="1719072" cy="347472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9144" lIns="36576" rIns="36576"/>
          <a:lstStyle/>
          <a:p>
            <a:pPr algn="ctr">
              <a:defRPr sz="680" b="1">
                <a:solidFill>
                  <a:srgbClr val="E0E7FF"/>
                </a:solidFill>
                <a:latin typeface="Arial"/>
              </a:defRPr>
            </a:pPr>
            <a:r>
              <a:t>L8: Mutation Chain: Ferfar History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8046720" y="5312664"/>
            <a:ext cx="237744" cy="201168"/>
          </a:xfrm>
          <a:prstGeom prst="downArrow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" y="5541264"/>
            <a:ext cx="11256264" cy="841248"/>
          </a:xfrm>
          <a:prstGeom prst="roundRect">
            <a:avLst/>
          </a:prstGeom>
          <a:solidFill>
            <a:srgbClr val="3B0764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lIns="109728"/>
          <a:lstStyle/>
          <a:p>
            <a:pPr algn="ctr">
              <a:defRPr b="1" sz="950">
                <a:solidFill>
                  <a:srgbClr val="F472B6"/>
                </a:solidFill>
                <a:latin typeface="Trebuchet MS"/>
              </a:defRPr>
            </a:pPr>
            <a:r>
              <a:t>7. DUAL-FACTOR TAMPER-EVIDENT VERIFICATION PROTOCOL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779008"/>
            <a:ext cx="2926080" cy="530352"/>
          </a:xfrm>
          <a:prstGeom prst="roundRect">
            <a:avLst/>
          </a:prstGeom>
          <a:solidFill>
            <a:srgbClr val="0F172A"/>
          </a:solidFill>
          <a:ln>
            <a:solidFill>
              <a:srgbClr val="9D1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73152"/>
          <a:lstStyle/>
          <a:p>
            <a:pPr algn="ctr">
              <a:defRPr b="1" sz="750">
                <a:solidFill>
                  <a:srgbClr val="FCE7F3"/>
                </a:solidFill>
                <a:latin typeface="Trebuchet MS"/>
              </a:defRPr>
            </a:pPr>
            <a:r>
              <a:t>Factor 1: Digital Cloud Anchor</a:t>
            </a:r>
          </a:p>
          <a:p>
            <a:pPr>
              <a:defRPr sz="680">
                <a:solidFill>
                  <a:srgbClr val="CBD5E1"/>
                </a:solidFill>
                <a:latin typeface="Arial"/>
              </a:defRPr>
            </a:pPr>
            <a:r>
              <a:t>Unique Doc ID (DOC-MH-2026-XXXX) + SHA-256 Scan Hash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7872" y="5806440"/>
            <a:ext cx="228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472B6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94760" y="5779008"/>
            <a:ext cx="3108960" cy="530352"/>
          </a:xfrm>
          <a:prstGeom prst="roundRect">
            <a:avLst/>
          </a:prstGeom>
          <a:solidFill>
            <a:srgbClr val="0F172A"/>
          </a:solidFill>
          <a:ln>
            <a:solidFill>
              <a:srgbClr val="9D1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73152"/>
          <a:lstStyle/>
          <a:p>
            <a:pPr algn="ctr">
              <a:defRPr b="1" sz="750">
                <a:solidFill>
                  <a:srgbClr val="FCE7F3"/>
                </a:solidFill>
                <a:latin typeface="Trebuchet MS"/>
              </a:defRPr>
            </a:pPr>
            <a:r>
              <a:t>Factor 2: Physical Sticker Seal</a:t>
            </a:r>
          </a:p>
          <a:p>
            <a:pPr>
              <a:defRPr sz="680">
                <a:solidFill>
                  <a:srgbClr val="CBD5E1"/>
                </a:solidFill>
                <a:latin typeface="Arial"/>
              </a:defRPr>
            </a:pPr>
            <a:r>
              <a:t>2D QR Code + Secret PIN (SEC-XXXX-YYYY) affixed to deed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6967728" y="5925312"/>
            <a:ext cx="228600" cy="164592"/>
          </a:xfrm>
          <a:prstGeom prst="rightArrow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269480" y="5779008"/>
            <a:ext cx="4343400" cy="530352"/>
          </a:xfrm>
          <a:prstGeom prst="roundRect">
            <a:avLst/>
          </a:prstGeom>
          <a:solidFill>
            <a:srgbClr val="0F172A"/>
          </a:solidFill>
          <a:ln>
            <a:solidFill>
              <a:srgbClr val="831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lIns="73152"/>
          <a:lstStyle/>
          <a:p>
            <a:pPr algn="ctr">
              <a:defRPr b="1" sz="750">
                <a:solidFill>
                  <a:srgbClr val="FBCFE8"/>
                </a:solidFill>
                <a:latin typeface="Trebuchet MS"/>
              </a:defRPr>
            </a:pPr>
            <a:r>
              <a:t>3-Tier Verification Engine (/verify-document)</a:t>
            </a:r>
          </a:p>
          <a:p>
            <a:pPr>
              <a:defRPr sz="680" b="1">
                <a:solidFill>
                  <a:srgbClr val="E2E8F0"/>
                </a:solidFill>
                <a:latin typeface="Arial"/>
              </a:defRPr>
            </a:pPr>
            <a:r>
              <a:t>[PASS] Tier 2: Authenticated Match  |  [WARN] Tier 1: Digital  |  [ALERT] Tier 3: Tamper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ILRDVS • AI-Powered Intelligent Land Record Digitization &amp; Validation System • DILRMP 3.0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6473952"/>
            <a:ext cx="2956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3 of 7 | SIH Idea Submission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  FEASIBILITY, VIABILITY &amp; RISK MITIGATION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164592"/>
            <a:ext cx="2926080" cy="47548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OPERATIONAL READINESS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41148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b="1" sz="1300">
                <a:solidFill>
                  <a:srgbClr val="0F172A"/>
                </a:solidFill>
                <a:latin typeface="Trebuchet MS"/>
              </a:defRPr>
            </a:pPr>
            <a:r>
              <a:t>⚙️ TECHNICAL &amp; ECONOMIC FEASIBILITY</a:t>
            </a:r>
          </a:p>
          <a:p>
            <a:pPr>
              <a:defRPr b="1" sz="1050">
                <a:solidFill>
                  <a:srgbClr val="1E3A8A"/>
                </a:solidFill>
                <a:latin typeface="Trebuchet MS"/>
              </a:defRPr>
            </a:pPr>
            <a:r>
              <a:t>• Zero High-End GPU Barrier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Preprocessing and OCR pipeline is optimized for multi-core CPUs with OpenCV and lightweight quantized OCR, ensuring straightforward deployment on existing State Data Centre (SDC) servers without massive cloud expenses.</a:t>
            </a:r>
          </a:p>
          <a:p>
            <a:pPr>
              <a:defRPr b="1" sz="1050">
                <a:solidFill>
                  <a:srgbClr val="1E3A8A"/>
                </a:solidFill>
                <a:latin typeface="Trebuchet MS"/>
              </a:defRPr>
            </a:pPr>
            <a:r>
              <a:t>• Incremental Modular Adoption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Designed as an API-first microservice. Can integrate into existing state portals (e.g., Mahabhulekh, Bhulekh, Jamabandi) without replacing current infrastructure.</a:t>
            </a:r>
          </a:p>
          <a:p>
            <a:pPr>
              <a:defRPr b="1" sz="1050">
                <a:solidFill>
                  <a:srgbClr val="1E3A8A"/>
                </a:solidFill>
                <a:latin typeface="Trebuchet MS"/>
              </a:defRPr>
            </a:pPr>
            <a:r>
              <a:t>• Economic Cost Savings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Automates 70% of manual transcription effort, saving crores of rupees in third-party data entry contracts and reducing mutation cycle time from weeks to hours.</a:t>
            </a:r>
          </a:p>
          <a:p>
            <a:pPr>
              <a:defRPr b="1" sz="1050">
                <a:solidFill>
                  <a:srgbClr val="1E3A8A"/>
                </a:solidFill>
                <a:latin typeface="Trebuchet MS"/>
              </a:defRPr>
            </a:pPr>
            <a:r>
              <a:t>• Statutory Legal Viability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Fully compliant with the Indian Information Technology Act (2000) and Revenue Department regulations through dual digital signatures (DSC-VER &amp; DSC-OFF).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97280"/>
            <a:ext cx="676656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1000"/>
              </a:spcAft>
              <a:defRPr b="1" sz="1300">
                <a:solidFill>
                  <a:srgbClr val="D97706"/>
                </a:solidFill>
                <a:latin typeface="Trebuchet MS"/>
              </a:defRPr>
            </a:pPr>
            <a:r>
              <a:t>🛡️ RISK ASSESSMENT &amp; ENGINEERING MITIGATION MATRIX</a:t>
            </a:r>
          </a:p>
          <a:p>
            <a:pPr>
              <a:defRPr b="1" sz="1000">
                <a:solidFill>
                  <a:srgbClr val="B91C1C"/>
                </a:solidFill>
                <a:latin typeface="Trebuchet MS"/>
              </a:defRPr>
            </a:pPr>
            <a:r>
              <a:t>⚠️ Risk: Severely Faded Inks &amp; Historical Stamps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✅ Mitigation: Adaptive multi-pass pipeline automatically activates CLAHE 3.5 contrast boosting, unsharp masking, and morphological dilation upon detecting low character yield.</a:t>
            </a:r>
          </a:p>
          <a:p>
            <a:pPr>
              <a:defRPr b="1" sz="1000">
                <a:solidFill>
                  <a:srgbClr val="B91C1C"/>
                </a:solidFill>
                <a:latin typeface="Trebuchet MS"/>
              </a:defRPr>
            </a:pPr>
            <a:r>
              <a:t>⚠️ Risk: AI Hallucinations on Legal Titles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✅ Mitigation: Human-in-the-Loop Workstation: AI provides confidence scores and highlight overlays; only authorized Revenue Officers can grant statutory approval via DSC-OFF digital signature.</a:t>
            </a:r>
          </a:p>
          <a:p>
            <a:pPr>
              <a:defRPr b="1" sz="1000">
                <a:solidFill>
                  <a:srgbClr val="B91C1C"/>
                </a:solidFill>
                <a:latin typeface="Trebuchet MS"/>
              </a:defRPr>
            </a:pPr>
            <a:r>
              <a:t>⚠️ Risk: Paper Deed Forgery &amp; Fake Photocopies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✅ Mitigation: Dual-Factor Physical-to-Digital Verification: Physical 80mm sticker QR + secret security PIN (SEC-XXXX-YYYY) cryptographically linked to cloud scan SHA-256 hash.</a:t>
            </a:r>
          </a:p>
          <a:p>
            <a:pPr>
              <a:defRPr b="1" sz="1000">
                <a:solidFill>
                  <a:srgbClr val="B91C1C"/>
                </a:solidFill>
                <a:latin typeface="Trebuchet MS"/>
              </a:defRPr>
            </a:pPr>
            <a:r>
              <a:t>⚠️ Risk: Citizen Identity Spoofing / Account Takeover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✅ Mitigation: Salted HMAC-SHA256 OTP verification with zero plaintext database storage, automatic 5-min TTL pruning, and TRAI DLT-compliant SMS templates.</a:t>
            </a:r>
          </a:p>
          <a:p>
            <a:pPr>
              <a:defRPr b="1" sz="1000">
                <a:solidFill>
                  <a:srgbClr val="B91C1C"/>
                </a:solidFill>
                <a:latin typeface="Trebuchet MS"/>
              </a:defRPr>
            </a:pPr>
            <a:r>
              <a:t>⚠️ Risk: Dialectal &amp; Orthographic Variations</a:t>
            </a:r>
          </a:p>
          <a:p>
            <a:pPr>
              <a:spcAft>
                <a:spcPts val="600"/>
              </a:spcAft>
              <a:defRPr sz="850">
                <a:solidFill>
                  <a:srgbClr val="1E293B"/>
                </a:solidFill>
                <a:latin typeface="Arial"/>
              </a:defRPr>
            </a:pPr>
            <a:r>
              <a:t>✅ Mitigation: Multilingual cadastral lexicon mapping regional terminology (Gat, Khasra, Khata, Bhogwatdar, Ferfar) with continuous feedback learning from verifier corrections.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ILRDVS • AI-Powered Intelligent Land Record Digitization &amp; Validation System • DILRMP 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56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4 of 7 | SIH Idea Submission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  IMPACT AND MEASURABLE GOVERNANCE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164592"/>
            <a:ext cx="2926080" cy="47548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NATIONAL RELEVANCE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1094415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E3A8A"/>
                </a:solidFill>
                <a:latin typeface="Trebuchet MS"/>
              </a:defRPr>
            </a:pPr>
            <a:r>
              <a:t>“Transforming Millions of Vulnerable Paper Deeds into an Indisputable, Transparent Economic Asset”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b="1" sz="1100">
                <a:solidFill>
                  <a:srgbClr val="0F172A"/>
                </a:solidFill>
                <a:latin typeface="Trebuchet MS"/>
              </a:defRPr>
            </a:pPr>
            <a:r>
              <a:t>🏛️ GOVERNANCE &amp; LEGAL IMPACT</a:t>
            </a:r>
          </a:p>
          <a:p>
            <a:pPr>
              <a:spcAft>
                <a:spcPts val="2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Land Litigation Reduction: </a:t>
            </a:r>
            <a:r>
              <a:rPr b="0" sz="800">
                <a:solidFill>
                  <a:srgbClr val="475569"/>
                </a:solidFill>
              </a:rPr>
              <a:t>Addresses the root cause of land disputes which currently constitute ~66% of all civil cases in Indian courts.</a:t>
            </a:r>
          </a:p>
          <a:p>
            <a:pPr>
              <a:spcAft>
                <a:spcPts val="2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Instant Court Stay Enforcement: </a:t>
            </a:r>
            <a:r>
              <a:rPr b="0" sz="800">
                <a:solidFill>
                  <a:srgbClr val="475569"/>
                </a:solidFill>
              </a:rPr>
              <a:t>Layer 7 NJDG/RCCMS sync automatically flags disputed parcels, freezing illicit sales during pending litigation.</a:t>
            </a:r>
          </a:p>
          <a:p>
            <a:pPr>
              <a:spcAft>
                <a:spcPts val="2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Immutable Audit Trail: </a:t>
            </a:r>
            <a:r>
              <a:rPr b="0" sz="800">
                <a:solidFill>
                  <a:srgbClr val="475569"/>
                </a:solidFill>
              </a:rPr>
              <a:t>RTI-compliant audit logs track every document view, edit, zoom, remark, and approval.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b="1" sz="1100">
                <a:solidFill>
                  <a:srgbClr val="047857"/>
                </a:solidFill>
                <a:latin typeface="Trebuchet MS"/>
              </a:defRPr>
            </a:pPr>
            <a:r>
              <a:t>💰 ECONOMIC &amp; LENDING VELOCITY</a:t>
            </a:r>
          </a:p>
          <a:p>
            <a:pPr>
              <a:spcAft>
                <a:spcPts val="2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Eliminates Double-Financing: </a:t>
            </a:r>
            <a:r>
              <a:rPr b="0" sz="800">
                <a:solidFill>
                  <a:srgbClr val="475569"/>
                </a:solidFill>
              </a:rPr>
              <a:t>Layer 6 CERSAI/ULI integration locks parcels in real-time when mortgaged, preventing fraudulent multi-bank loans.</a:t>
            </a:r>
          </a:p>
          <a:p>
            <a:pPr>
              <a:spcAft>
                <a:spcPts val="2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Instant Kisan Credit Card (KCC): </a:t>
            </a:r>
            <a:r>
              <a:rPr b="0" sz="800">
                <a:solidFill>
                  <a:srgbClr val="475569"/>
                </a:solidFill>
              </a:rPr>
              <a:t>Farmers obtain verified land title certificates in minutes instead of paying middlemen for physical extracts.</a:t>
            </a:r>
          </a:p>
          <a:p>
            <a:pPr>
              <a:spcAft>
                <a:spcPts val="2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Automated Circle Rate Valuation: </a:t>
            </a:r>
            <a:r>
              <a:rPr b="0" sz="800">
                <a:solidFill>
                  <a:srgbClr val="475569"/>
                </a:solidFill>
              </a:rPr>
              <a:t>Layer 5 algorithmically prevents stamp duty evasion and manual undervaluation.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14800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b="1" sz="1100">
                <a:solidFill>
                  <a:srgbClr val="D97706"/>
                </a:solidFill>
                <a:latin typeface="Trebuchet MS"/>
              </a:defRPr>
            </a:pPr>
            <a:r>
              <a:t>👥 CITIZEN EMPOWERMENT &amp; EQUITY</a:t>
            </a:r>
          </a:p>
          <a:p>
            <a:pPr>
              <a:spcAft>
                <a:spcPts val="2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Transparent Citizen Self-Service: </a:t>
            </a:r>
            <a:r>
              <a:rPr b="0" sz="800">
                <a:solidFill>
                  <a:srgbClr val="475569"/>
                </a:solidFill>
              </a:rPr>
              <a:t>Dedicated /citizen portal allows tracking mutation applications and downloading certified extracts without red tape.</a:t>
            </a:r>
          </a:p>
          <a:p>
            <a:pPr>
              <a:spcAft>
                <a:spcPts val="2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Instant Fraud SMS Alerts: </a:t>
            </a:r>
            <a:r>
              <a:rPr b="0" sz="800">
                <a:solidFill>
                  <a:srgbClr val="475569"/>
                </a:solidFill>
              </a:rPr>
              <a:t>Masked Aadhaar (XXXX-XXXX-9124) linkage automatically dispatches alerts when transactions are initiated on personal land.</a:t>
            </a:r>
          </a:p>
          <a:p>
            <a:pPr>
              <a:spcAft>
                <a:spcPts val="2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Eradication of Broker Exploitation: </a:t>
            </a:r>
            <a:r>
              <a:rPr b="0" sz="800">
                <a:solidFill>
                  <a:srgbClr val="475569"/>
                </a:solidFill>
              </a:rPr>
              <a:t>Direct digital verification removes dependency on predatory local document writers.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3949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400"/>
              </a:spcAft>
              <a:defRPr b="1" sz="1100">
                <a:solidFill>
                  <a:srgbClr val="0284C7"/>
                </a:solidFill>
                <a:latin typeface="Trebuchet MS"/>
              </a:defRPr>
            </a:pPr>
            <a:r>
              <a:t>♿ ACCESSIBILITY &amp; VERNACULAR REACH</a:t>
            </a:r>
          </a:p>
          <a:p>
            <a:pPr>
              <a:spcAft>
                <a:spcPts val="2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GIGW &amp; WCAG 2.1 Compliant: </a:t>
            </a:r>
            <a:r>
              <a:rPr b="0" sz="800">
                <a:solidFill>
                  <a:srgbClr val="475569"/>
                </a:solidFill>
              </a:rPr>
              <a:t>Dedicated /screen-reader mode with high-contrast UI and keyboard accessibility for visually impaired citizens.</a:t>
            </a:r>
          </a:p>
          <a:p>
            <a:pPr>
              <a:spcAft>
                <a:spcPts val="2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Native Vernacular Interface: </a:t>
            </a:r>
            <a:r>
              <a:rPr b="0" sz="800">
                <a:solidFill>
                  <a:srgbClr val="475569"/>
                </a:solidFill>
              </a:rPr>
              <a:t>Full localized support for Marathi (Devanagari) and Hindi ensuring rural common service centre (CSC) usability.</a:t>
            </a:r>
          </a:p>
          <a:p>
            <a:pPr>
              <a:spcAft>
                <a:spcPts val="2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Offline-Ready QR Verification: </a:t>
            </a:r>
            <a:r>
              <a:rPr b="0" sz="800">
                <a:solidFill>
                  <a:srgbClr val="475569"/>
                </a:solidFill>
              </a:rPr>
              <a:t>Inspectors and banks can verify paper authenticity in rural tehsils using any smartphone camera.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ILRDVS • AI-Powered Intelligent Land Record Digitization &amp; Validation System • DILRMP 3.0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73952"/>
            <a:ext cx="2956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5 of 7 | SIH Idea Submission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  WORKING PROTOTYPE &amp; LIVE SYSTEM DEMONSTRATION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164592"/>
            <a:ext cx="2926080" cy="47548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PRODUCTION 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5661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b="1" sz="1100">
                <a:solidFill>
                  <a:srgbClr val="1E3A8A"/>
                </a:solidFill>
                <a:latin typeface="Trebuchet MS"/>
              </a:defRPr>
            </a:pPr>
            <a:r>
              <a:t>1. DUAL-PANE HITL WORKSTATION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Side-by-side archival scan viewer + extracted metadata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Field-level confidence scores &amp; anomaly warning flags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Verifier Digital Signature (DSC-VER) forwarding queue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Revenue Officer statutory approval &amp; rejection portal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Audit log viewer tracking every click &amp; edit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97280"/>
            <a:ext cx="35661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b="1" sz="1100">
                <a:solidFill>
                  <a:srgbClr val="047857"/>
                </a:solidFill>
                <a:latin typeface="Trebuchet MS"/>
              </a:defRPr>
            </a:pPr>
            <a:r>
              <a:t>2. 3-TIER QR VERIFICATION ENGINE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Public portal: /verify-document with live camera scan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Tier 1 (Digital Only): Cloud archive validation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Tier 2 (Dual-Factor Match): Validates physical sticker PIN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Tier 3 (Counterfeit Alert): Detects altered paper deeds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Instant PDF export of certified cadastral extracts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097280"/>
            <a:ext cx="35661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b="1" sz="1100">
                <a:solidFill>
                  <a:srgbClr val="D97706"/>
                </a:solidFill>
                <a:latin typeface="Trebuchet MS"/>
              </a:defRPr>
            </a:pPr>
            <a:r>
              <a:t>3. 8-LAYER LAND STACK VIEWER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Interactive cadastral parcel visualizer with ULPIN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Real-time RoR (7/12 &amp; 8A) ownership registry lookup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Bank mortgage status check (CERSAI &amp; ULI sync)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Automated Circle Rate Ready Reckoner tax calculator</a:t>
            </a:r>
          </a:p>
          <a:p>
            <a:pPr>
              <a:spcAft>
                <a:spcPts val="6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t>• Revenue court active injunction / stay order monitor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74920"/>
            <a:ext cx="11094415" cy="1188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/>
          <a:lstStyle/>
          <a:p>
            <a:pPr algn="ctr">
              <a:spcAft>
                <a:spcPts val="400"/>
              </a:spcAft>
              <a:defRPr b="1" sz="1200">
                <a:solidFill>
                  <a:srgbClr val="D97706"/>
                </a:solidFill>
                <a:latin typeface="Trebuchet MS"/>
              </a:defRPr>
            </a:pPr>
            <a:r>
              <a:t>🚀 LIVE DEPLOYMENT &amp; JURY EVALUATION ACCESS</a:t>
            </a:r>
          </a:p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• Web Application: http://localhost:3000 (Next.js 14)  |  Backend API: http://localhost:5000 (Node.js/Express)  |  AI Service: http://localhost:8000</a:t>
            </a:r>
          </a:p>
          <a:p>
            <a:pPr>
              <a:defRPr sz="900">
                <a:solidFill>
                  <a:srgbClr val="93C5FD"/>
                </a:solidFill>
                <a:latin typeface="Arial"/>
              </a:defRPr>
            </a:pPr>
            <a:r>
              <a:t>• Pre-Seeded One-Click Roles (Password: Password123!): Admin (admin@landrecord.gov.in) | Officer (officer1@landrecord.gov.in) | Verifier (verifier1@landrecord.gov.in)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ILRDVS • AI-Powered Intelligent Land Record Digitization &amp; Validation System • DILRMP 3.0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73952"/>
            <a:ext cx="2956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6 of 7 | SIH Idea Submission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  RESEARCH, REFERENCES &amp; POLICY ALIGNMENT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164592"/>
            <a:ext cx="2926080" cy="47548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AUTHORITATIVE BACKING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3949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b="1" sz="1050">
                <a:solidFill>
                  <a:srgbClr val="0F172A"/>
                </a:solidFill>
                <a:latin typeface="Trebuchet MS"/>
              </a:defRPr>
            </a:pPr>
            <a:r>
              <a:t>📚 GOVERNMENT POLICY &amp; STANDARDS</a:t>
            </a:r>
          </a:p>
          <a:p>
            <a:pPr>
              <a:spcAft>
                <a:spcPts val="4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DILRMP 3.0 Operational Guidelines (2026–2031): </a:t>
            </a:r>
            <a:r>
              <a:rPr b="0" sz="800">
                <a:solidFill>
                  <a:srgbClr val="475569"/>
                </a:solidFill>
              </a:rPr>
              <a:t>Department of Land Resources (DoLR), Ministry of Rural Development, Government of India.</a:t>
            </a:r>
          </a:p>
          <a:p>
            <a:pPr>
              <a:spcAft>
                <a:spcPts val="4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Bhu-Aadhaar (ULPIN) Technical Standard: </a:t>
            </a:r>
            <a:r>
              <a:rPr b="0" sz="800">
                <a:solidFill>
                  <a:srgbClr val="475569"/>
                </a:solidFill>
              </a:rPr>
              <a:t>Survey of India standard for 14-digit deterministic cadastral parcel identification.</a:t>
            </a:r>
          </a:p>
          <a:p>
            <a:pPr>
              <a:spcAft>
                <a:spcPts val="4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TRAI DLT Commercial SMS Regulations: </a:t>
            </a:r>
            <a:r>
              <a:rPr b="0" sz="800">
                <a:solidFill>
                  <a:srgbClr val="475569"/>
                </a:solidFill>
              </a:rPr>
              <a:t>DLT Principal Entity registration &amp; approved header framework for public notifications.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3949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b="1" sz="1050">
                <a:solidFill>
                  <a:srgbClr val="1E3A8A"/>
                </a:solidFill>
                <a:latin typeface="Trebuchet MS"/>
              </a:defRPr>
            </a:pPr>
            <a:r>
              <a:t>📚 ACADEMIC PAPERS &amp; ALGORITHMS</a:t>
            </a:r>
          </a:p>
          <a:p>
            <a:pPr>
              <a:spcAft>
                <a:spcPts val="4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Adaptive Contrast for Low-Quality Manuscripts: </a:t>
            </a:r>
            <a:r>
              <a:rPr b="0" sz="800">
                <a:solidFill>
                  <a:srgbClr val="475569"/>
                </a:solidFill>
              </a:rPr>
              <a:t>Contrast Limited Adaptive Histogram Equalization (CLAHE) applied to historical document OCR.</a:t>
            </a:r>
          </a:p>
          <a:p>
            <a:pPr>
              <a:spcAft>
                <a:spcPts val="4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Named Entity Recognition in Vernacular Scripts: </a:t>
            </a:r>
            <a:r>
              <a:rPr b="0" sz="800">
                <a:solidFill>
                  <a:srgbClr val="475569"/>
                </a:solidFill>
              </a:rPr>
              <a:t>Hybrid regex and transformer models for multilingual cadastral extraction in Devanagari.</a:t>
            </a:r>
          </a:p>
          <a:p>
            <a:pPr>
              <a:spcAft>
                <a:spcPts val="4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Active Continuous Learning in Document Processing: </a:t>
            </a:r>
            <a:r>
              <a:rPr b="0" sz="800">
                <a:solidFill>
                  <a:srgbClr val="475569"/>
                </a:solidFill>
              </a:rPr>
              <a:t>Human-in-the-loop correction feedback loop for real-time synonym and entity adaptation.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39"/>
            <a:ext cx="53949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b="1" sz="1050">
                <a:solidFill>
                  <a:srgbClr val="047857"/>
                </a:solidFill>
                <a:latin typeface="Trebuchet MS"/>
              </a:defRPr>
            </a:pPr>
            <a:r>
              <a:t>📚 CADASTRAL DATASETS &amp; TAXONOMY</a:t>
            </a:r>
          </a:p>
          <a:p>
            <a:pPr>
              <a:spcAft>
                <a:spcPts val="4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Maharashtra Mahabhulekh Schema: </a:t>
            </a:r>
            <a:r>
              <a:rPr b="0" sz="800">
                <a:solidFill>
                  <a:srgbClr val="475569"/>
                </a:solidFill>
              </a:rPr>
              <a:t>Standardized Form 7/12 (Satbara), Form 8A (Holding ledger), and Form 6 (Ferfar mutation register).</a:t>
            </a:r>
          </a:p>
          <a:p>
            <a:pPr>
              <a:spcAft>
                <a:spcPts val="4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National Land Records Modernization Corpus: </a:t>
            </a:r>
            <a:r>
              <a:rPr b="0" sz="800">
                <a:solidFill>
                  <a:srgbClr val="475569"/>
                </a:solidFill>
              </a:rPr>
              <a:t>Archival deeds spanning Pune, Nashik, Nagpur, Satara, and Thane revenue jurisdictions.</a:t>
            </a:r>
          </a:p>
          <a:p>
            <a:pPr>
              <a:spcAft>
                <a:spcPts val="4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CERSAI &amp; NGDRS Open Standards: </a:t>
            </a:r>
            <a:r>
              <a:rPr b="0" sz="800">
                <a:solidFill>
                  <a:srgbClr val="475569"/>
                </a:solidFill>
              </a:rPr>
              <a:t>Conveyance registry protocols and central mortgage encumbrance data exchange formats.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3949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600"/>
              </a:spcAft>
              <a:defRPr b="1" sz="1050">
                <a:solidFill>
                  <a:srgbClr val="D97706"/>
                </a:solidFill>
                <a:latin typeface="Trebuchet MS"/>
              </a:defRPr>
            </a:pPr>
            <a:r>
              <a:t>📚 CRYPTOGRAPHIC &amp; TECHNICAL DOCUMENTATION</a:t>
            </a:r>
          </a:p>
          <a:p>
            <a:pPr>
              <a:spcAft>
                <a:spcPts val="4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SHA-256 Document Provenance Standard: </a:t>
            </a:r>
            <a:r>
              <a:rPr b="0" sz="800">
                <a:solidFill>
                  <a:srgbClr val="475569"/>
                </a:solidFill>
              </a:rPr>
              <a:t>NIST FIPS 180-4 secure hashing for original archival document scan immutability.</a:t>
            </a:r>
          </a:p>
          <a:p>
            <a:pPr>
              <a:spcAft>
                <a:spcPts val="4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HMAC-SHA256 Zero-Plaintext Security: </a:t>
            </a:r>
            <a:r>
              <a:rPr b="0" sz="800">
                <a:solidFill>
                  <a:srgbClr val="475569"/>
                </a:solidFill>
              </a:rPr>
              <a:t>RFC 2104 cryptographic authentication for one-time verification tokens.</a:t>
            </a:r>
          </a:p>
          <a:p>
            <a:pPr>
              <a:spcAft>
                <a:spcPts val="400"/>
              </a:spcAft>
              <a:defRPr b="1" sz="850">
                <a:solidFill>
                  <a:srgbClr val="0F172A"/>
                </a:solidFill>
                <a:latin typeface="Arial"/>
              </a:defRPr>
            </a:pPr>
            <a:r>
              <a:t>• GIGW 3.0 &amp; WCAG 2.1 AA Accessibility: </a:t>
            </a:r>
            <a:r>
              <a:rPr b="0" sz="800">
                <a:solidFill>
                  <a:srgbClr val="475569"/>
                </a:solidFill>
              </a:rPr>
              <a:t>Ministry of Electronics and Information Technology (MeitY) guidelines for accessible portals.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ILRDVS • AI-Powered Intelligent Land Record Digitization &amp; Validation System • DILRMP 3.0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473952"/>
            <a:ext cx="2956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E3A8A"/>
                </a:solidFill>
                <a:latin typeface="Arial"/>
              </a:defRPr>
            </a:pPr>
            <a:r>
              <a:t>Slide 7 of 7 | SIH Idea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